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nter Bold" panose="020B0604020202020204" charset="0"/>
      <p:regular r:id="rId14"/>
    </p:embeddedFont>
    <p:embeddedFont>
      <p:font typeface="Tomorrow" panose="020B0604020202020204" charset="0"/>
      <p:regular r:id="rId15"/>
    </p:embeddedFont>
    <p:embeddedFont>
      <p:font typeface="Tomorrow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85853" y="460665"/>
            <a:ext cx="17516294" cy="9365669"/>
            <a:chOff x="0" y="0"/>
            <a:chExt cx="4613345" cy="24666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13345" cy="2466678"/>
            </a:xfrm>
            <a:custGeom>
              <a:avLst/>
              <a:gdLst/>
              <a:ahLst/>
              <a:cxnLst/>
              <a:rect l="l" t="t" r="r" b="b"/>
              <a:pathLst>
                <a:path w="4613345" h="2466678">
                  <a:moveTo>
                    <a:pt x="0" y="0"/>
                  </a:moveTo>
                  <a:lnTo>
                    <a:pt x="4613345" y="0"/>
                  </a:lnTo>
                  <a:lnTo>
                    <a:pt x="4613345" y="2466678"/>
                  </a:lnTo>
                  <a:lnTo>
                    <a:pt x="0" y="2466678"/>
                  </a:lnTo>
                  <a:close/>
                </a:path>
              </a:pathLst>
            </a:custGeom>
            <a:ln w="66675" cap="sq">
              <a:solidFill>
                <a:srgbClr val="01BDBB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613345" cy="2523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 flipV="1">
            <a:off x="1028700" y="51435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38978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97838" y="0"/>
                </a:lnTo>
                <a:lnTo>
                  <a:pt x="389783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670170" y="3687052"/>
            <a:ext cx="10947659" cy="621657"/>
            <a:chOff x="0" y="0"/>
            <a:chExt cx="2883334" cy="1637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83334" cy="163729"/>
            </a:xfrm>
            <a:custGeom>
              <a:avLst/>
              <a:gdLst/>
              <a:ahLst/>
              <a:cxnLst/>
              <a:rect l="l" t="t" r="r" b="b"/>
              <a:pathLst>
                <a:path w="2883334" h="163729">
                  <a:moveTo>
                    <a:pt x="203200" y="0"/>
                  </a:moveTo>
                  <a:lnTo>
                    <a:pt x="2883334" y="0"/>
                  </a:lnTo>
                  <a:lnTo>
                    <a:pt x="2680134" y="163729"/>
                  </a:lnTo>
                  <a:lnTo>
                    <a:pt x="0" y="16372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20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47625"/>
              <a:ext cx="2680134" cy="211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Herramienta automatizada para la Ingeniería de Requisitos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3230428" y="5469636"/>
            <a:ext cx="3152147" cy="3152147"/>
          </a:xfrm>
          <a:custGeom>
            <a:avLst/>
            <a:gdLst/>
            <a:ahLst/>
            <a:cxnLst/>
            <a:rect l="l" t="t" r="r" b="b"/>
            <a:pathLst>
              <a:path w="3152147" h="3152147">
                <a:moveTo>
                  <a:pt x="0" y="0"/>
                </a:moveTo>
                <a:lnTo>
                  <a:pt x="3152147" y="0"/>
                </a:lnTo>
                <a:lnTo>
                  <a:pt x="3152147" y="3152147"/>
                </a:lnTo>
                <a:lnTo>
                  <a:pt x="0" y="3152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905425" y="1447800"/>
            <a:ext cx="14477150" cy="210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3"/>
              </a:lnSpc>
            </a:pPr>
            <a:r>
              <a:rPr lang="en-US" sz="16563" b="1" spc="-1076">
                <a:solidFill>
                  <a:srgbClr val="01BDBB"/>
                </a:solidFill>
                <a:latin typeface="Tomorrow Bold"/>
                <a:ea typeface="Tomorrow Bold"/>
                <a:cs typeface="Tomorrow Bold"/>
                <a:sym typeface="Tomorrow Bold"/>
              </a:rPr>
              <a:t>OpenReq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1378" y="5961697"/>
            <a:ext cx="9245244" cy="232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4"/>
              </a:lnSpc>
            </a:pPr>
            <a:r>
              <a:rPr lang="en-US" sz="2699">
                <a:solidFill>
                  <a:srgbClr val="FF6201"/>
                </a:solidFill>
                <a:latin typeface="Tomorrow"/>
                <a:ea typeface="Tomorrow"/>
                <a:cs typeface="Tomorrow"/>
                <a:sym typeface="Tomorrow"/>
              </a:rPr>
              <a:t>CHAVARRIA CUENCA TAHINY MEL</a:t>
            </a:r>
          </a:p>
          <a:p>
            <a:pPr algn="ctr">
              <a:lnSpc>
                <a:spcPts val="4724"/>
              </a:lnSpc>
            </a:pPr>
            <a:r>
              <a:rPr lang="en-US" sz="2699">
                <a:solidFill>
                  <a:srgbClr val="FF6201"/>
                </a:solidFill>
                <a:latin typeface="Tomorrow"/>
                <a:ea typeface="Tomorrow"/>
                <a:cs typeface="Tomorrow"/>
                <a:sym typeface="Tomorrow"/>
              </a:rPr>
              <a:t>MENDOZA PARRAGA ANDY JOHEL</a:t>
            </a:r>
          </a:p>
          <a:p>
            <a:pPr algn="ctr">
              <a:lnSpc>
                <a:spcPts val="4724"/>
              </a:lnSpc>
            </a:pPr>
            <a:r>
              <a:rPr lang="en-US" sz="2699">
                <a:solidFill>
                  <a:srgbClr val="FF6201"/>
                </a:solidFill>
                <a:latin typeface="Tomorrow"/>
                <a:ea typeface="Tomorrow"/>
                <a:cs typeface="Tomorrow"/>
                <a:sym typeface="Tomorrow"/>
              </a:rPr>
              <a:t>SANCHEZ CORNEJO GARY ALBERTO</a:t>
            </a:r>
          </a:p>
          <a:p>
            <a:pPr algn="ctr">
              <a:lnSpc>
                <a:spcPts val="4724"/>
              </a:lnSpc>
            </a:pPr>
            <a:r>
              <a:rPr lang="en-US" sz="2699">
                <a:solidFill>
                  <a:srgbClr val="FF6201"/>
                </a:solidFill>
                <a:latin typeface="Tomorrow"/>
                <a:ea typeface="Tomorrow"/>
                <a:cs typeface="Tomorrow"/>
                <a:sym typeface="Tomorrow"/>
              </a:rPr>
              <a:t>ZAMORA AGUILAR RONALDO WILFRIDO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05425" y="5248275"/>
            <a:ext cx="14477150" cy="54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8"/>
              </a:lnSpc>
            </a:pPr>
            <a:r>
              <a:rPr lang="en-US" sz="4299" b="1" spc="-279">
                <a:solidFill>
                  <a:srgbClr val="01BDBB"/>
                </a:solidFill>
                <a:latin typeface="Tomorrow Bold"/>
                <a:ea typeface="Tomorrow Bold"/>
                <a:cs typeface="Tomorrow Bold"/>
                <a:sym typeface="Tomorrow Bold"/>
              </a:rPr>
              <a:t>Integrantes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2094097" y="5469636"/>
            <a:ext cx="3152147" cy="3152147"/>
          </a:xfrm>
          <a:custGeom>
            <a:avLst/>
            <a:gdLst/>
            <a:ahLst/>
            <a:cxnLst/>
            <a:rect l="l" t="t" r="r" b="b"/>
            <a:pathLst>
              <a:path w="3152147" h="3152147">
                <a:moveTo>
                  <a:pt x="0" y="0"/>
                </a:moveTo>
                <a:lnTo>
                  <a:pt x="3152147" y="0"/>
                </a:lnTo>
                <a:lnTo>
                  <a:pt x="3152147" y="3152147"/>
                </a:lnTo>
                <a:lnTo>
                  <a:pt x="0" y="3152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9018" y="749988"/>
            <a:ext cx="17324773" cy="8821642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99253" y="749988"/>
            <a:ext cx="9704538" cy="8821642"/>
            <a:chOff x="0" y="0"/>
            <a:chExt cx="2384393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4393" cy="2167467"/>
            </a:xfrm>
            <a:custGeom>
              <a:avLst/>
              <a:gdLst/>
              <a:ahLst/>
              <a:cxnLst/>
              <a:rect l="l" t="t" r="r" b="b"/>
              <a:pathLst>
                <a:path w="2384393" h="2167467">
                  <a:moveTo>
                    <a:pt x="0" y="0"/>
                  </a:moveTo>
                  <a:lnTo>
                    <a:pt x="2384393" y="0"/>
                  </a:lnTo>
                  <a:lnTo>
                    <a:pt x="2384393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384393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632068" y="749988"/>
            <a:ext cx="4178250" cy="4410821"/>
          </a:xfrm>
          <a:custGeom>
            <a:avLst/>
            <a:gdLst/>
            <a:ahLst/>
            <a:cxnLst/>
            <a:rect l="l" t="t" r="r" b="b"/>
            <a:pathLst>
              <a:path w="4178250" h="4410821">
                <a:moveTo>
                  <a:pt x="0" y="0"/>
                </a:moveTo>
                <a:lnTo>
                  <a:pt x="4178250" y="0"/>
                </a:lnTo>
                <a:lnTo>
                  <a:pt x="4178250" y="4410821"/>
                </a:lnTo>
                <a:lnTo>
                  <a:pt x="0" y="4410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8099253" y="5160809"/>
            <a:ext cx="4178250" cy="4410821"/>
          </a:xfrm>
          <a:custGeom>
            <a:avLst/>
            <a:gdLst/>
            <a:ahLst/>
            <a:cxnLst/>
            <a:rect l="l" t="t" r="r" b="b"/>
            <a:pathLst>
              <a:path w="4178250" h="4410821">
                <a:moveTo>
                  <a:pt x="4178250" y="4410821"/>
                </a:moveTo>
                <a:lnTo>
                  <a:pt x="0" y="4410821"/>
                </a:lnTo>
                <a:lnTo>
                  <a:pt x="0" y="0"/>
                </a:lnTo>
                <a:lnTo>
                  <a:pt x="4178250" y="0"/>
                </a:lnTo>
                <a:lnTo>
                  <a:pt x="4178250" y="44108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741483"/>
            <a:ext cx="6401233" cy="176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7215" spc="-46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Descripción de la herramienta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875327"/>
            <a:ext cx="6757251" cy="4751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15"/>
              </a:lnSpc>
            </a:pPr>
            <a:r>
              <a:rPr lang="en-US" sz="279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OpenReq es una plataforma desarrollada para apoyar la Ingeniería de Requisitos mediante inteligencia artificial y NPL. Analiza retroalimentación de usuarios, genera recomendaciones y facilita la toma de decisiones durante el desarrollo de software.</a:t>
            </a:r>
          </a:p>
        </p:txBody>
      </p:sp>
      <p:sp>
        <p:nvSpPr>
          <p:cNvPr id="12" name="Freeform 12"/>
          <p:cNvSpPr/>
          <p:nvPr/>
        </p:nvSpPr>
        <p:spPr>
          <a:xfrm>
            <a:off x="8533366" y="4018202"/>
            <a:ext cx="8836312" cy="2562530"/>
          </a:xfrm>
          <a:custGeom>
            <a:avLst/>
            <a:gdLst/>
            <a:ahLst/>
            <a:cxnLst/>
            <a:rect l="l" t="t" r="r" b="b"/>
            <a:pathLst>
              <a:path w="8836312" h="2562530">
                <a:moveTo>
                  <a:pt x="0" y="0"/>
                </a:moveTo>
                <a:lnTo>
                  <a:pt x="8836312" y="0"/>
                </a:lnTo>
                <a:lnTo>
                  <a:pt x="8836312" y="2562530"/>
                </a:lnTo>
                <a:lnTo>
                  <a:pt x="0" y="256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253" y="731986"/>
            <a:ext cx="8029119" cy="8823028"/>
            <a:chOff x="0" y="0"/>
            <a:chExt cx="10705492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705492" cy="11764037"/>
              <a:chOff x="0" y="0"/>
              <a:chExt cx="1972435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72435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1972435" h="2167467">
                    <a:moveTo>
                      <a:pt x="0" y="0"/>
                    </a:moveTo>
                    <a:lnTo>
                      <a:pt x="1972435" y="0"/>
                    </a:lnTo>
                    <a:lnTo>
                      <a:pt x="1972435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1972435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133616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948021" y="1464458"/>
            <a:ext cx="8311279" cy="1662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817" spc="-443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Funcionalidades principales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59030" y="3728037"/>
            <a:ext cx="8410852" cy="541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Análisis automático de comentarios y opiniones de usuarios.</a:t>
            </a:r>
          </a:p>
          <a:p>
            <a:pPr marL="669289" lvl="1" indent="-334645" algn="l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Panel de control con tendencias, actividad y sentimiento.</a:t>
            </a:r>
          </a:p>
          <a:p>
            <a:pPr marL="669289" lvl="1" indent="-334645" algn="l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Identificación de problemas, consultas y solicitudes de funcionalidades.</a:t>
            </a:r>
          </a:p>
          <a:p>
            <a:pPr marL="669289" lvl="1" indent="-334645" algn="l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Monitoreo continuo de la retroalimentación proveniente de múltiples fuentes.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3099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814760" y="1813871"/>
            <a:ext cx="6760269" cy="6760269"/>
          </a:xfrm>
          <a:custGeom>
            <a:avLst/>
            <a:gdLst/>
            <a:ahLst/>
            <a:cxnLst/>
            <a:rect l="l" t="t" r="r" b="b"/>
            <a:pathLst>
              <a:path w="6760269" h="6760269">
                <a:moveTo>
                  <a:pt x="0" y="0"/>
                </a:moveTo>
                <a:lnTo>
                  <a:pt x="6760269" y="0"/>
                </a:lnTo>
                <a:lnTo>
                  <a:pt x="6760269" y="6760270"/>
                </a:lnTo>
                <a:lnTo>
                  <a:pt x="0" y="6760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143985"/>
            <a:ext cx="8935275" cy="6806378"/>
            <a:chOff x="0" y="0"/>
            <a:chExt cx="11913700" cy="9075171"/>
          </a:xfrm>
        </p:grpSpPr>
        <p:sp>
          <p:nvSpPr>
            <p:cNvPr id="6" name="TextBox 6"/>
            <p:cNvSpPr txBox="1"/>
            <p:nvPr/>
          </p:nvSpPr>
          <p:spPr>
            <a:xfrm>
              <a:off x="537049" y="66675"/>
              <a:ext cx="11376651" cy="508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0"/>
                </a:lnSpc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047488"/>
              <a:ext cx="11527151" cy="6027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17689" lvl="1" indent="-308844" algn="l">
                <a:lnSpc>
                  <a:spcPts val="40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6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Recomendación de requisitos relevantes y similares.</a:t>
              </a:r>
            </a:p>
            <a:p>
              <a:pPr marL="617689" lvl="1" indent="-308844" algn="l">
                <a:lnSpc>
                  <a:spcPts val="40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6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Detección de dependencias y relaciones entre requisitos.</a:t>
              </a:r>
            </a:p>
            <a:p>
              <a:pPr marL="617689" lvl="1" indent="-308844" algn="l">
                <a:lnSpc>
                  <a:spcPts val="40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6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Evaluación de la calidad de los requisitos y sugerencias de mejora.</a:t>
              </a:r>
            </a:p>
            <a:p>
              <a:pPr marL="617689" lvl="1" indent="-308844" algn="l">
                <a:lnSpc>
                  <a:spcPts val="40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6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Predicción de prioridades e identificación de interesados clave.</a:t>
              </a:r>
            </a:p>
            <a:p>
              <a:pPr algn="l">
                <a:lnSpc>
                  <a:spcPts val="4005"/>
                </a:lnSpc>
                <a:spcBef>
                  <a:spcPct val="0"/>
                </a:spcBef>
              </a:pPr>
              <a:endParaRPr lang="en-US" sz="286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531421" y="3778609"/>
            <a:ext cx="7298403" cy="5787646"/>
            <a:chOff x="0" y="0"/>
            <a:chExt cx="1788370" cy="14181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88370" cy="1418180"/>
            </a:xfrm>
            <a:custGeom>
              <a:avLst/>
              <a:gdLst/>
              <a:ahLst/>
              <a:cxnLst/>
              <a:rect l="l" t="t" r="r" b="b"/>
              <a:pathLst>
                <a:path w="1788370" h="1418180">
                  <a:moveTo>
                    <a:pt x="0" y="0"/>
                  </a:moveTo>
                  <a:lnTo>
                    <a:pt x="1788370" y="0"/>
                  </a:lnTo>
                  <a:lnTo>
                    <a:pt x="1788370" y="1418180"/>
                  </a:lnTo>
                  <a:lnTo>
                    <a:pt x="0" y="1418180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88370" cy="147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 flipV="1">
            <a:off x="10531421" y="5143500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4189556" y="4422755"/>
                </a:moveTo>
                <a:lnTo>
                  <a:pt x="0" y="4422755"/>
                </a:lnTo>
                <a:lnTo>
                  <a:pt x="0" y="0"/>
                </a:lnTo>
                <a:lnTo>
                  <a:pt x="4189556" y="0"/>
                </a:lnTo>
                <a:lnTo>
                  <a:pt x="4189556" y="44227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640269" y="3778609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0" y="0"/>
                </a:moveTo>
                <a:lnTo>
                  <a:pt x="4189555" y="0"/>
                </a:lnTo>
                <a:lnTo>
                  <a:pt x="4189555" y="4422756"/>
                </a:lnTo>
                <a:lnTo>
                  <a:pt x="0" y="4422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323665" y="4630780"/>
            <a:ext cx="3725764" cy="4114800"/>
          </a:xfrm>
          <a:custGeom>
            <a:avLst/>
            <a:gdLst/>
            <a:ahLst/>
            <a:cxnLst/>
            <a:rect l="l" t="t" r="r" b="b"/>
            <a:pathLst>
              <a:path w="3725764" h="4114800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802460" y="1498594"/>
            <a:ext cx="16683080" cy="3644906"/>
            <a:chOff x="0" y="0"/>
            <a:chExt cx="22244106" cy="4859874"/>
          </a:xfrm>
        </p:grpSpPr>
        <p:sp>
          <p:nvSpPr>
            <p:cNvPr id="15" name="TextBox 15"/>
            <p:cNvSpPr txBox="1"/>
            <p:nvPr/>
          </p:nvSpPr>
          <p:spPr>
            <a:xfrm>
              <a:off x="145211" y="209550"/>
              <a:ext cx="21953685" cy="15111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76"/>
                </a:lnSpc>
              </a:pPr>
              <a:r>
                <a:rPr lang="en-US" sz="8469" spc="-550">
                  <a:solidFill>
                    <a:srgbClr val="004AAD"/>
                  </a:solidFill>
                  <a:latin typeface="Tomorrow"/>
                  <a:ea typeface="Tomorrow"/>
                  <a:cs typeface="Tomorrow"/>
                  <a:sym typeface="Tomorrow"/>
                </a:rPr>
                <a:t>Funcionalidades principales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355545"/>
              <a:ext cx="22244106" cy="504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480253" y="3735747"/>
            <a:ext cx="17490099" cy="0"/>
          </a:xfrm>
          <a:prstGeom prst="line">
            <a:avLst/>
          </a:prstGeom>
          <a:ln w="85725" cap="flat">
            <a:solidFill>
              <a:srgbClr val="FF6201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8176" y="720745"/>
            <a:ext cx="17371649" cy="8845511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31421" y="3778609"/>
            <a:ext cx="7298403" cy="5787646"/>
            <a:chOff x="0" y="0"/>
            <a:chExt cx="1788370" cy="14181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8370" cy="1418180"/>
            </a:xfrm>
            <a:custGeom>
              <a:avLst/>
              <a:gdLst/>
              <a:ahLst/>
              <a:cxnLst/>
              <a:rect l="l" t="t" r="r" b="b"/>
              <a:pathLst>
                <a:path w="1788370" h="1418180">
                  <a:moveTo>
                    <a:pt x="0" y="0"/>
                  </a:moveTo>
                  <a:lnTo>
                    <a:pt x="1788370" y="0"/>
                  </a:lnTo>
                  <a:lnTo>
                    <a:pt x="1788370" y="1418180"/>
                  </a:lnTo>
                  <a:lnTo>
                    <a:pt x="0" y="1418180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788370" cy="147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640269" y="3778609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0" y="0"/>
                </a:moveTo>
                <a:lnTo>
                  <a:pt x="4189555" y="0"/>
                </a:lnTo>
                <a:lnTo>
                  <a:pt x="4189555" y="4422756"/>
                </a:lnTo>
                <a:lnTo>
                  <a:pt x="0" y="4422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0531421" y="5143500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4189556" y="4422755"/>
                </a:moveTo>
                <a:lnTo>
                  <a:pt x="0" y="4422755"/>
                </a:lnTo>
                <a:lnTo>
                  <a:pt x="0" y="0"/>
                </a:lnTo>
                <a:lnTo>
                  <a:pt x="4189556" y="0"/>
                </a:lnTo>
                <a:lnTo>
                  <a:pt x="4189556" y="44227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458176" y="2727531"/>
            <a:ext cx="17490099" cy="0"/>
          </a:xfrm>
          <a:prstGeom prst="line">
            <a:avLst/>
          </a:prstGeom>
          <a:ln w="85725" cap="flat">
            <a:solidFill>
              <a:srgbClr val="01BD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28700" y="1437879"/>
            <a:ext cx="9809499" cy="8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8"/>
              </a:lnSpc>
            </a:pPr>
            <a:r>
              <a:rPr lang="en-US" sz="6923" spc="-45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Ventajas de OpenReq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8176" y="2884006"/>
            <a:ext cx="9695982" cy="693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Automatiza el análisis de feedback de usuarios.</a:t>
            </a:r>
          </a:p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Facilita decisiones basadas en necesidades reales.</a:t>
            </a:r>
          </a:p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Visualiza relaciones entre requisitos e incidencias.</a:t>
            </a:r>
          </a:p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Detecta duplicados, enlaces faltantes e inconsistencias.</a:t>
            </a:r>
          </a:p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Extrae dependencias entre requisitos en lenguaje natural.</a:t>
            </a:r>
          </a:p>
          <a:p>
            <a:pPr marL="648229" lvl="1" indent="-324115" algn="l">
              <a:lnSpc>
                <a:spcPts val="4623"/>
              </a:lnSpc>
              <a:buFont typeface="Arial"/>
              <a:buChar char="•"/>
            </a:pPr>
            <a:r>
              <a:rPr lang="en-US" sz="300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Reduce el esfuerzo manual del analista de requisitos.</a:t>
            </a:r>
          </a:p>
          <a:p>
            <a:pPr algn="l">
              <a:lnSpc>
                <a:spcPts val="4623"/>
              </a:lnSpc>
            </a:pPr>
            <a:endParaRPr lang="en-US" sz="3002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1241918" y="4461599"/>
            <a:ext cx="4796701" cy="4796701"/>
          </a:xfrm>
          <a:custGeom>
            <a:avLst/>
            <a:gdLst/>
            <a:ahLst/>
            <a:cxnLst/>
            <a:rect l="l" t="t" r="r" b="b"/>
            <a:pathLst>
              <a:path w="4796701" h="4796701">
                <a:moveTo>
                  <a:pt x="0" y="0"/>
                </a:moveTo>
                <a:lnTo>
                  <a:pt x="4796701" y="0"/>
                </a:lnTo>
                <a:lnTo>
                  <a:pt x="4796701" y="4796701"/>
                </a:lnTo>
                <a:lnTo>
                  <a:pt x="0" y="479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481215" cy="25206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81214" cy="2520683"/>
            </a:xfrm>
            <a:custGeom>
              <a:avLst/>
              <a:gdLst/>
              <a:ahLst/>
              <a:cxnLst/>
              <a:rect l="l" t="t" r="r" b="b"/>
              <a:pathLst>
                <a:path w="4481214" h="2520683">
                  <a:moveTo>
                    <a:pt x="0" y="0"/>
                  </a:moveTo>
                  <a:lnTo>
                    <a:pt x="4481214" y="0"/>
                  </a:lnTo>
                  <a:lnTo>
                    <a:pt x="4481214" y="2520683"/>
                  </a:lnTo>
                  <a:lnTo>
                    <a:pt x="0" y="2520683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81215" cy="2577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10577" y="2183140"/>
          <a:ext cx="16248724" cy="7391400"/>
        </p:xfrm>
        <a:graphic>
          <a:graphicData uri="http://schemas.openxmlformats.org/drawingml/2006/table">
            <a:tbl>
              <a:tblPr/>
              <a:tblGrid>
                <a:gridCol w="8124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4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7681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CONCEPTO DE IR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1">
                          <a:solidFill>
                            <a:srgbClr val="3C67BF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VENTAJA DE OPENREQ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3547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Elicitación de requisitos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Analiza feedback de usuarios.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5086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Análisis de requisitos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Identifica problemas, solicitudes, tendencias y dependencias.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5086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 Trazabilidad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3C67BF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Visualiza enlaces, dependencias e inconsistencias.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2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06859" y="396613"/>
            <a:ext cx="17274282" cy="1407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53"/>
              </a:lnSpc>
            </a:pPr>
            <a:r>
              <a:rPr lang="en-US" sz="5756" spc="-374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Relación con conceptos de  la Ingeniería de Requerimientos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253" y="731986"/>
            <a:ext cx="8561178" cy="8823028"/>
            <a:chOff x="0" y="0"/>
            <a:chExt cx="11414905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1409043" cy="11764037"/>
              <a:chOff x="0" y="0"/>
              <a:chExt cx="2102061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02061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02061" h="2167467">
                    <a:moveTo>
                      <a:pt x="0" y="0"/>
                    </a:moveTo>
                    <a:lnTo>
                      <a:pt x="2102061" y="0"/>
                    </a:lnTo>
                    <a:lnTo>
                      <a:pt x="2102061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2102061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843029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710329" y="1867775"/>
            <a:ext cx="5959648" cy="6356958"/>
          </a:xfrm>
          <a:custGeom>
            <a:avLst/>
            <a:gdLst/>
            <a:ahLst/>
            <a:cxnLst/>
            <a:rect l="l" t="t" r="r" b="b"/>
            <a:pathLst>
              <a:path w="5959648" h="6356958">
                <a:moveTo>
                  <a:pt x="0" y="0"/>
                </a:moveTo>
                <a:lnTo>
                  <a:pt x="5959648" y="0"/>
                </a:lnTo>
                <a:lnTo>
                  <a:pt x="595964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555274" y="1651702"/>
            <a:ext cx="7899715" cy="10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6"/>
              </a:lnSpc>
            </a:pPr>
            <a:r>
              <a:rPr lang="en-US" sz="7217" spc="-46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Limitaciones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64853" y="3570475"/>
            <a:ext cx="7894447" cy="4484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Dependencia de datos históricos para generar recomendaciones.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Sensibilidad a datos incompletos, inconsistentes o con ruido.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Menor precisión en proyectos con poca información previa.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Riesgo de resultados sesgados por la calidad de los datos disponibles.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731986"/>
            <a:ext cx="8561178" cy="8823028"/>
            <a:chOff x="0" y="0"/>
            <a:chExt cx="11414905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1409043" cy="11764037"/>
              <a:chOff x="0" y="0"/>
              <a:chExt cx="2102061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02061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02061" h="2167467">
                    <a:moveTo>
                      <a:pt x="0" y="0"/>
                    </a:moveTo>
                    <a:lnTo>
                      <a:pt x="2102061" y="0"/>
                    </a:lnTo>
                    <a:lnTo>
                      <a:pt x="2102061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2102061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843029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385511" y="2928063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535008"/>
            <a:ext cx="7899715" cy="10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6"/>
              </a:lnSpc>
            </a:pPr>
            <a:r>
              <a:rPr lang="en-US" sz="7217" spc="-46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Limitaciones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6692" y="3589924"/>
            <a:ext cx="7894447" cy="504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Falta de estándares para evaluar herramientas de Ingeniería de Requisitos.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Madurez limitada de los sistemas de recomendación.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Dificultades de integración con algunos procesos de desarrollo.</a:t>
            </a:r>
          </a:p>
          <a:p>
            <a:pPr marL="647697" lvl="1" indent="-323848" algn="l">
              <a:lnSpc>
                <a:spcPts val="4439"/>
              </a:lnSpc>
              <a:buFont typeface="Arial"/>
              <a:buChar char="•"/>
            </a:pPr>
            <a:r>
              <a:rPr lang="en-US" sz="299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Baja adopción industrial en comparación con su uso académico.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253" y="731986"/>
            <a:ext cx="8561178" cy="8823028"/>
            <a:chOff x="0" y="0"/>
            <a:chExt cx="11414905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1409043" cy="11764037"/>
              <a:chOff x="0" y="0"/>
              <a:chExt cx="2102061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02061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02061" h="2167467">
                    <a:moveTo>
                      <a:pt x="0" y="0"/>
                    </a:moveTo>
                    <a:lnTo>
                      <a:pt x="2102061" y="0"/>
                    </a:lnTo>
                    <a:lnTo>
                      <a:pt x="2102061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2102061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843029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302435" y="1651702"/>
            <a:ext cx="7899715" cy="2161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6"/>
              </a:lnSpc>
            </a:pPr>
            <a:r>
              <a:rPr lang="en-US" sz="7217" spc="-46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¿Por qué OpenReq sería útil para el PFC?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4111507"/>
            <a:ext cx="8980297" cy="354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000" lvl="1" indent="-288500" algn="just">
              <a:lnSpc>
                <a:spcPts val="5772"/>
              </a:lnSpc>
              <a:buFont typeface="Arial"/>
              <a:buChar char="•"/>
            </a:pPr>
            <a:r>
              <a:rPr lang="en-US" sz="26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Análisis de retroalimentación de usuarios.</a:t>
            </a:r>
          </a:p>
          <a:p>
            <a:pPr marL="577000" lvl="1" indent="-288500" algn="just">
              <a:lnSpc>
                <a:spcPts val="5772"/>
              </a:lnSpc>
              <a:buFont typeface="Arial"/>
              <a:buChar char="•"/>
            </a:pPr>
            <a:r>
              <a:rPr lang="en-US" sz="26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Priorización de funcionalidades.</a:t>
            </a:r>
          </a:p>
          <a:p>
            <a:pPr marL="577000" lvl="1" indent="-288500" algn="just">
              <a:lnSpc>
                <a:spcPts val="5772"/>
              </a:lnSpc>
              <a:buFont typeface="Arial"/>
              <a:buChar char="•"/>
            </a:pPr>
            <a:r>
              <a:rPr lang="en-US" sz="26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Identificación de dependencias entre requisitos.</a:t>
            </a:r>
          </a:p>
          <a:p>
            <a:pPr marL="577000" lvl="1" indent="-288500" algn="just">
              <a:lnSpc>
                <a:spcPts val="5772"/>
              </a:lnSpc>
              <a:buFont typeface="Arial"/>
              <a:buChar char="•"/>
            </a:pPr>
            <a:r>
              <a:rPr lang="en-US" sz="26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Apoyo a la toma de decisiones.</a:t>
            </a:r>
          </a:p>
          <a:p>
            <a:pPr marL="577000" lvl="1" indent="-288500" algn="just">
              <a:lnSpc>
                <a:spcPts val="5772"/>
              </a:lnSpc>
              <a:buFont typeface="Arial"/>
              <a:buChar char="•"/>
            </a:pPr>
            <a:r>
              <a:rPr lang="en-US" sz="2672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Gestión estructurada de requisitos.</a:t>
            </a:r>
          </a:p>
        </p:txBody>
      </p:sp>
      <p:sp>
        <p:nvSpPr>
          <p:cNvPr id="13" name="Freeform 13"/>
          <p:cNvSpPr/>
          <p:nvPr/>
        </p:nvSpPr>
        <p:spPr>
          <a:xfrm>
            <a:off x="2317181" y="2088924"/>
            <a:ext cx="4887322" cy="6109153"/>
          </a:xfrm>
          <a:custGeom>
            <a:avLst/>
            <a:gdLst/>
            <a:ahLst/>
            <a:cxnLst/>
            <a:rect l="l" t="t" r="r" b="b"/>
            <a:pathLst>
              <a:path w="4887322" h="6109153">
                <a:moveTo>
                  <a:pt x="0" y="0"/>
                </a:moveTo>
                <a:lnTo>
                  <a:pt x="4887322" y="0"/>
                </a:lnTo>
                <a:lnTo>
                  <a:pt x="4887322" y="6109152"/>
                </a:lnTo>
                <a:lnTo>
                  <a:pt x="0" y="6109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8176" y="720745"/>
            <a:ext cx="17371649" cy="8845511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31421" y="3778609"/>
            <a:ext cx="7298403" cy="5787646"/>
            <a:chOff x="0" y="0"/>
            <a:chExt cx="1788370" cy="14181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8370" cy="1418180"/>
            </a:xfrm>
            <a:custGeom>
              <a:avLst/>
              <a:gdLst/>
              <a:ahLst/>
              <a:cxnLst/>
              <a:rect l="l" t="t" r="r" b="b"/>
              <a:pathLst>
                <a:path w="1788370" h="1418180">
                  <a:moveTo>
                    <a:pt x="0" y="0"/>
                  </a:moveTo>
                  <a:lnTo>
                    <a:pt x="1788370" y="0"/>
                  </a:lnTo>
                  <a:lnTo>
                    <a:pt x="1788370" y="1418180"/>
                  </a:lnTo>
                  <a:lnTo>
                    <a:pt x="0" y="1418180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788370" cy="147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640269" y="3778609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0" y="0"/>
                </a:moveTo>
                <a:lnTo>
                  <a:pt x="4189555" y="0"/>
                </a:lnTo>
                <a:lnTo>
                  <a:pt x="4189555" y="4422756"/>
                </a:lnTo>
                <a:lnTo>
                  <a:pt x="0" y="4422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0531421" y="5143500"/>
            <a:ext cx="4189555" cy="4422755"/>
          </a:xfrm>
          <a:custGeom>
            <a:avLst/>
            <a:gdLst/>
            <a:ahLst/>
            <a:cxnLst/>
            <a:rect l="l" t="t" r="r" b="b"/>
            <a:pathLst>
              <a:path w="4189555" h="4422755">
                <a:moveTo>
                  <a:pt x="4189556" y="4422755"/>
                </a:moveTo>
                <a:lnTo>
                  <a:pt x="0" y="4422755"/>
                </a:lnTo>
                <a:lnTo>
                  <a:pt x="0" y="0"/>
                </a:lnTo>
                <a:lnTo>
                  <a:pt x="4189556" y="0"/>
                </a:lnTo>
                <a:lnTo>
                  <a:pt x="4189556" y="44227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458176" y="3801810"/>
            <a:ext cx="12118581" cy="0"/>
          </a:xfrm>
          <a:prstGeom prst="line">
            <a:avLst/>
          </a:prstGeom>
          <a:ln w="85725" cap="flat">
            <a:solidFill>
              <a:srgbClr val="01BDB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2976529" y="5510915"/>
            <a:ext cx="3931276" cy="3872307"/>
          </a:xfrm>
          <a:custGeom>
            <a:avLst/>
            <a:gdLst/>
            <a:ahLst/>
            <a:cxnLst/>
            <a:rect l="l" t="t" r="r" b="b"/>
            <a:pathLst>
              <a:path w="3931276" h="3872307">
                <a:moveTo>
                  <a:pt x="0" y="0"/>
                </a:moveTo>
                <a:lnTo>
                  <a:pt x="3931277" y="0"/>
                </a:lnTo>
                <a:lnTo>
                  <a:pt x="3931277" y="3872307"/>
                </a:lnTo>
                <a:lnTo>
                  <a:pt x="0" y="38723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889193" y="4273298"/>
            <a:ext cx="3474013" cy="1237617"/>
          </a:xfrm>
          <a:custGeom>
            <a:avLst/>
            <a:gdLst/>
            <a:ahLst/>
            <a:cxnLst/>
            <a:rect l="l" t="t" r="r" b="b"/>
            <a:pathLst>
              <a:path w="3474013" h="1237617">
                <a:moveTo>
                  <a:pt x="0" y="0"/>
                </a:moveTo>
                <a:lnTo>
                  <a:pt x="3474013" y="0"/>
                </a:lnTo>
                <a:lnTo>
                  <a:pt x="3474013" y="1237617"/>
                </a:lnTo>
                <a:lnTo>
                  <a:pt x="0" y="1237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70926" y="1891253"/>
            <a:ext cx="16146148" cy="914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8"/>
              </a:lnSpc>
            </a:pPr>
            <a:r>
              <a:rPr lang="en-US" sz="7235" spc="-4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Relación con Ingeniería de Requisitos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9983" y="3905357"/>
            <a:ext cx="9133245" cy="556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51"/>
              </a:lnSpc>
            </a:pPr>
            <a:r>
              <a:rPr lang="en-US" sz="25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Para el PFC, OpenReq podría contribuir al cumplimiento de principios establecidos en la norma IEEE 29148:2018 mediante:</a:t>
            </a:r>
          </a:p>
          <a:p>
            <a:pPr marL="554864" lvl="1" indent="-277432" algn="just">
              <a:lnSpc>
                <a:spcPts val="5551"/>
              </a:lnSpc>
              <a:buFont typeface="Arial"/>
              <a:buChar char="•"/>
            </a:pPr>
            <a:r>
              <a:rPr lang="en-US" sz="25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Trazabilidad entre requisitos y funcionalidades.</a:t>
            </a:r>
          </a:p>
          <a:p>
            <a:pPr marL="554864" lvl="1" indent="-277432" algn="just">
              <a:lnSpc>
                <a:spcPts val="5551"/>
              </a:lnSpc>
              <a:buFont typeface="Arial"/>
              <a:buChar char="•"/>
            </a:pPr>
            <a:r>
              <a:rPr lang="en-US" sz="25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Relación entre necesidades de usuarios y requisitos.</a:t>
            </a:r>
          </a:p>
          <a:p>
            <a:pPr marL="554864" lvl="1" indent="-277432" algn="just">
              <a:lnSpc>
                <a:spcPts val="5551"/>
              </a:lnSpc>
              <a:buFont typeface="Arial"/>
              <a:buChar char="•"/>
            </a:pPr>
            <a:r>
              <a:rPr lang="en-US" sz="25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Seguimiento de requisitos durante el desarrollo.</a:t>
            </a:r>
          </a:p>
          <a:p>
            <a:pPr marL="554864" lvl="1" indent="-277432" algn="just">
              <a:lnSpc>
                <a:spcPts val="5551"/>
              </a:lnSpc>
              <a:buFont typeface="Arial"/>
              <a:buChar char="•"/>
            </a:pPr>
            <a:r>
              <a:rPr lang="en-US" sz="257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Apoyo al control de cambios.</a:t>
            </a:r>
          </a:p>
          <a:p>
            <a:pPr algn="just">
              <a:lnSpc>
                <a:spcPts val="5551"/>
              </a:lnSpc>
            </a:pPr>
            <a:endParaRPr lang="en-US" sz="2570">
              <a:solidFill>
                <a:srgbClr val="004AAD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253" y="731986"/>
            <a:ext cx="17327495" cy="8823028"/>
            <a:chOff x="0" y="0"/>
            <a:chExt cx="425667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56676" cy="2167467"/>
            </a:xfrm>
            <a:custGeom>
              <a:avLst/>
              <a:gdLst/>
              <a:ahLst/>
              <a:cxnLst/>
              <a:rect l="l" t="t" r="r" b="b"/>
              <a:pathLst>
                <a:path w="4256676" h="2167467">
                  <a:moveTo>
                    <a:pt x="0" y="0"/>
                  </a:moveTo>
                  <a:lnTo>
                    <a:pt x="4256676" y="0"/>
                  </a:lnTo>
                  <a:lnTo>
                    <a:pt x="425667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FF620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5667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253" y="731986"/>
            <a:ext cx="8561178" cy="8823028"/>
            <a:chOff x="0" y="0"/>
            <a:chExt cx="11414905" cy="1176403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1409043" cy="11764037"/>
              <a:chOff x="0" y="0"/>
              <a:chExt cx="2102061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02061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02061" h="2167467">
                    <a:moveTo>
                      <a:pt x="0" y="0"/>
                    </a:moveTo>
                    <a:lnTo>
                      <a:pt x="2102061" y="0"/>
                    </a:lnTo>
                    <a:lnTo>
                      <a:pt x="2102061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ln w="76200" cap="sq">
                <a:solidFill>
                  <a:srgbClr val="FF6201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2102061" cy="22341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5843029" y="0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0" y="0"/>
                  </a:moveTo>
                  <a:lnTo>
                    <a:pt x="5571876" y="0"/>
                  </a:lnTo>
                  <a:lnTo>
                    <a:pt x="5571876" y="5882018"/>
                  </a:lnTo>
                  <a:lnTo>
                    <a:pt x="0" y="588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 flipV="1">
              <a:off x="0" y="5882018"/>
              <a:ext cx="5571876" cy="5882018"/>
            </a:xfrm>
            <a:custGeom>
              <a:avLst/>
              <a:gdLst/>
              <a:ahLst/>
              <a:cxnLst/>
              <a:rect l="l" t="t" r="r" b="b"/>
              <a:pathLst>
                <a:path w="5571876" h="5882018">
                  <a:moveTo>
                    <a:pt x="5571876" y="5882019"/>
                  </a:moveTo>
                  <a:lnTo>
                    <a:pt x="0" y="5882019"/>
                  </a:lnTo>
                  <a:lnTo>
                    <a:pt x="0" y="0"/>
                  </a:lnTo>
                  <a:lnTo>
                    <a:pt x="5571876" y="0"/>
                  </a:lnTo>
                  <a:lnTo>
                    <a:pt x="5571876" y="588201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940144" y="2350855"/>
            <a:ext cx="5641396" cy="5662631"/>
          </a:xfrm>
          <a:custGeom>
            <a:avLst/>
            <a:gdLst/>
            <a:ahLst/>
            <a:cxnLst/>
            <a:rect l="l" t="t" r="r" b="b"/>
            <a:pathLst>
              <a:path w="5641396" h="5662631">
                <a:moveTo>
                  <a:pt x="0" y="0"/>
                </a:moveTo>
                <a:lnTo>
                  <a:pt x="5641396" y="0"/>
                </a:lnTo>
                <a:lnTo>
                  <a:pt x="5641396" y="5662631"/>
                </a:lnTo>
                <a:lnTo>
                  <a:pt x="0" y="56626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359585" y="1274889"/>
            <a:ext cx="7899715" cy="2161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6"/>
              </a:lnSpc>
            </a:pPr>
            <a:r>
              <a:rPr lang="en-US" sz="7217" spc="-469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Limitaciones para el PFC y conclusión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69110" y="3771538"/>
            <a:ext cx="8415078" cy="4913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56"/>
              </a:lnSpc>
            </a:pPr>
            <a:r>
              <a:rPr lang="en-US" sz="2572" b="1" dirty="0" err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Limitaciones</a:t>
            </a:r>
            <a:endParaRPr lang="en-US" sz="2572" b="1" dirty="0">
              <a:solidFill>
                <a:srgbClr val="004AAD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marL="555409" lvl="1" indent="-277705" algn="just">
              <a:lnSpc>
                <a:spcPts val="5556"/>
              </a:lnSpc>
              <a:buFont typeface="Arial"/>
              <a:buChar char="•"/>
            </a:pP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OpenReq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ya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no </a:t>
            </a: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está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disponible.</a:t>
            </a:r>
          </a:p>
          <a:p>
            <a:pPr marL="555409" lvl="1" indent="-277705" algn="just">
              <a:lnSpc>
                <a:spcPts val="5556"/>
              </a:lnSpc>
              <a:buFont typeface="Arial"/>
              <a:buChar char="•"/>
            </a:pP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Diseñado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para </a:t>
            </a: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proyectos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más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complejos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</a:p>
          <a:p>
            <a:pPr marL="555409" lvl="1" indent="-277705" algn="just">
              <a:lnSpc>
                <a:spcPts val="5556"/>
              </a:lnSpc>
              <a:buFont typeface="Arial"/>
              <a:buChar char="•"/>
            </a:pP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Puede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resultar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excesivo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para un PFC.</a:t>
            </a:r>
          </a:p>
          <a:p>
            <a:pPr algn="just">
              <a:lnSpc>
                <a:spcPts val="5556"/>
              </a:lnSpc>
            </a:pPr>
            <a:r>
              <a:rPr lang="en-US" sz="2572" b="1" dirty="0" err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Conclusión</a:t>
            </a:r>
            <a:endParaRPr lang="en-US" sz="2572" b="1" dirty="0">
              <a:solidFill>
                <a:srgbClr val="004AAD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marL="555409" lvl="1" indent="-277705" algn="just">
              <a:lnSpc>
                <a:spcPts val="5556"/>
              </a:lnSpc>
              <a:buFont typeface="Arial"/>
              <a:buChar char="•"/>
            </a:pP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Conceptualmente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aplicable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</a:p>
          <a:p>
            <a:pPr marL="555409" lvl="1" indent="-277705" algn="just">
              <a:lnSpc>
                <a:spcPts val="5556"/>
              </a:lnSpc>
              <a:buFont typeface="Arial"/>
              <a:buChar char="•"/>
            </a:pP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Prácticamente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poco viable para </a:t>
            </a:r>
            <a:r>
              <a:rPr lang="en-US" sz="2572" dirty="0" err="1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el</a:t>
            </a:r>
            <a:r>
              <a:rPr lang="en-US" sz="2572" dirty="0">
                <a:solidFill>
                  <a:srgbClr val="004AAD"/>
                </a:solidFill>
                <a:latin typeface="Tomorrow"/>
                <a:ea typeface="Tomorrow"/>
                <a:cs typeface="Tomorrow"/>
                <a:sym typeface="Tomorrow"/>
              </a:rPr>
              <a:t> PFC.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76200" cap="sq">
              <a:solidFill>
                <a:srgbClr val="01BD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61462" y="10287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028700" y="51435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38978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97838" y="0"/>
                </a:lnTo>
                <a:lnTo>
                  <a:pt x="3897838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5853" y="460665"/>
            <a:ext cx="17516294" cy="9365669"/>
            <a:chOff x="0" y="0"/>
            <a:chExt cx="4613345" cy="24666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13345" cy="2466678"/>
            </a:xfrm>
            <a:custGeom>
              <a:avLst/>
              <a:gdLst/>
              <a:ahLst/>
              <a:cxnLst/>
              <a:rect l="l" t="t" r="r" b="b"/>
              <a:pathLst>
                <a:path w="4613345" h="2466678">
                  <a:moveTo>
                    <a:pt x="0" y="0"/>
                  </a:moveTo>
                  <a:lnTo>
                    <a:pt x="4613345" y="0"/>
                  </a:lnTo>
                  <a:lnTo>
                    <a:pt x="4613345" y="2466678"/>
                  </a:lnTo>
                  <a:lnTo>
                    <a:pt x="0" y="2466678"/>
                  </a:lnTo>
                  <a:close/>
                </a:path>
              </a:pathLst>
            </a:custGeom>
            <a:ln w="66675" cap="sq">
              <a:solidFill>
                <a:srgbClr val="FF6201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613345" cy="2523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61583" y="4045992"/>
            <a:ext cx="12564833" cy="2747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6"/>
              </a:lnSpc>
            </a:pPr>
            <a:r>
              <a:rPr lang="en-US" sz="21684" b="1" spc="-1409">
                <a:solidFill>
                  <a:srgbClr val="FF6201"/>
                </a:solidFill>
                <a:latin typeface="Tomorrow Bold"/>
                <a:ea typeface="Tomorrow Bold"/>
                <a:cs typeface="Tomorrow Bold"/>
                <a:sym typeface="Tomorrow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443</Words>
  <Application>Microsoft Office PowerPoint</Application>
  <PresentationFormat>Personalizado</PresentationFormat>
  <Paragraphs>66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Inter Bold</vt:lpstr>
      <vt:lpstr>Calibri</vt:lpstr>
      <vt:lpstr>Tomorrow</vt:lpstr>
      <vt:lpstr>Tomorrow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OpenReq - Grupo H</dc:title>
  <cp:lastModifiedBy>Andy Mendoza</cp:lastModifiedBy>
  <cp:revision>3</cp:revision>
  <dcterms:created xsi:type="dcterms:W3CDTF">2006-08-16T00:00:00Z</dcterms:created>
  <dcterms:modified xsi:type="dcterms:W3CDTF">2026-06-08T22:38:03Z</dcterms:modified>
  <dc:identifier>DAHL6U2Ha54</dc:identifier>
</cp:coreProperties>
</file>