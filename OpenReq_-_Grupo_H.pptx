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8" r:id="rId8"/>
    <p:sldId id="262" r:id="rId9"/>
    <p:sldId id="263" r:id="rId10"/>
    <p:sldId id="264" r:id="rId11"/>
    <p:sldId id="265" r:id="rId12"/>
    <p:sldId id="269" r:id="rId13"/>
    <p:sldId id="266" r:id="rId14"/>
    <p:sldId id="267" r:id="rId15"/>
  </p:sldIdLst>
  <p:sldSz cx="18288000" cy="10287000"/>
  <p:notesSz cx="6858000" cy="9144000"/>
  <p:embeddedFontLst>
    <p:embeddedFont>
      <p:font typeface="Inter Bold" panose="020B0604020202020204" charset="0"/>
      <p:regular r:id="rId16"/>
    </p:embeddedFont>
    <p:embeddedFont>
      <p:font typeface="Tomorrow" panose="020B0604020202020204" charset="0"/>
      <p:regular r:id="rId17"/>
    </p:embeddedFont>
    <p:embeddedFont>
      <p:font typeface="Tomorrow Bold" panose="020B0604020202020204" charset="0"/>
      <p:regular r:id="rId1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534" y="8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3.fntdata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2.fntdata"/><Relationship Id="rId2" Type="http://schemas.openxmlformats.org/officeDocument/2006/relationships/slide" Target="slides/slide1.xml"/><Relationship Id="rId16" Type="http://schemas.openxmlformats.org/officeDocument/2006/relationships/font" Target="fonts/font1.fntdata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6/13/2026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sv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3.sv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3.sv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E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28700" y="1028700"/>
            <a:ext cx="16230600" cy="8229600"/>
            <a:chOff x="0" y="0"/>
            <a:chExt cx="4274726" cy="2167467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274726" cy="2167467"/>
            </a:xfrm>
            <a:custGeom>
              <a:avLst/>
              <a:gdLst/>
              <a:ahLst/>
              <a:cxnLst/>
              <a:rect l="l" t="t" r="r" b="b"/>
              <a:pathLst>
                <a:path w="4274726" h="2167467">
                  <a:moveTo>
                    <a:pt x="0" y="0"/>
                  </a:moveTo>
                  <a:lnTo>
                    <a:pt x="4274726" y="0"/>
                  </a:lnTo>
                  <a:lnTo>
                    <a:pt x="4274726" y="2167467"/>
                  </a:lnTo>
                  <a:lnTo>
                    <a:pt x="0" y="2167467"/>
                  </a:lnTo>
                  <a:close/>
                </a:path>
              </a:pathLst>
            </a:custGeom>
            <a:ln w="76200" cap="sq">
              <a:solidFill>
                <a:srgbClr val="FF6201"/>
              </a:solidFill>
              <a:prstDash val="solid"/>
              <a:miter/>
            </a:ln>
          </p:spPr>
          <p:txBody>
            <a:bodyPr/>
            <a:lstStyle/>
            <a:p>
              <a:endParaRPr lang="es-EC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57150"/>
              <a:ext cx="4274726" cy="222461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13361462" y="1028700"/>
            <a:ext cx="3897838" cy="4114800"/>
          </a:xfrm>
          <a:custGeom>
            <a:avLst/>
            <a:gdLst/>
            <a:ahLst/>
            <a:cxnLst/>
            <a:rect l="l" t="t" r="r" b="b"/>
            <a:pathLst>
              <a:path w="3897838" h="4114800">
                <a:moveTo>
                  <a:pt x="0" y="0"/>
                </a:moveTo>
                <a:lnTo>
                  <a:pt x="3897838" y="0"/>
                </a:lnTo>
                <a:lnTo>
                  <a:pt x="389783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EC"/>
          </a:p>
        </p:txBody>
      </p:sp>
      <p:grpSp>
        <p:nvGrpSpPr>
          <p:cNvPr id="6" name="Group 6"/>
          <p:cNvGrpSpPr/>
          <p:nvPr/>
        </p:nvGrpSpPr>
        <p:grpSpPr>
          <a:xfrm>
            <a:off x="385853" y="460665"/>
            <a:ext cx="17516294" cy="9365669"/>
            <a:chOff x="0" y="0"/>
            <a:chExt cx="4613345" cy="2466678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4613345" cy="2466678"/>
            </a:xfrm>
            <a:custGeom>
              <a:avLst/>
              <a:gdLst/>
              <a:ahLst/>
              <a:cxnLst/>
              <a:rect l="l" t="t" r="r" b="b"/>
              <a:pathLst>
                <a:path w="4613345" h="2466678">
                  <a:moveTo>
                    <a:pt x="0" y="0"/>
                  </a:moveTo>
                  <a:lnTo>
                    <a:pt x="4613345" y="0"/>
                  </a:lnTo>
                  <a:lnTo>
                    <a:pt x="4613345" y="2466678"/>
                  </a:lnTo>
                  <a:lnTo>
                    <a:pt x="0" y="2466678"/>
                  </a:lnTo>
                  <a:close/>
                </a:path>
              </a:pathLst>
            </a:custGeom>
            <a:ln w="66675" cap="sq">
              <a:solidFill>
                <a:srgbClr val="01BDBB"/>
              </a:solidFill>
              <a:prstDash val="solid"/>
              <a:miter/>
            </a:ln>
          </p:spPr>
          <p:txBody>
            <a:bodyPr/>
            <a:lstStyle/>
            <a:p>
              <a:endParaRPr lang="es-EC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57150"/>
              <a:ext cx="4613345" cy="252382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/>
            </a:p>
          </p:txBody>
        </p:sp>
      </p:grpSp>
      <p:sp>
        <p:nvSpPr>
          <p:cNvPr id="9" name="Freeform 9"/>
          <p:cNvSpPr/>
          <p:nvPr/>
        </p:nvSpPr>
        <p:spPr>
          <a:xfrm flipH="1" flipV="1">
            <a:off x="1028700" y="5143500"/>
            <a:ext cx="3897838" cy="4114800"/>
          </a:xfrm>
          <a:custGeom>
            <a:avLst/>
            <a:gdLst/>
            <a:ahLst/>
            <a:cxnLst/>
            <a:rect l="l" t="t" r="r" b="b"/>
            <a:pathLst>
              <a:path w="3897838" h="4114800">
                <a:moveTo>
                  <a:pt x="3897838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3897838" y="0"/>
                </a:lnTo>
                <a:lnTo>
                  <a:pt x="3897838" y="411480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EC"/>
          </a:p>
        </p:txBody>
      </p:sp>
      <p:grpSp>
        <p:nvGrpSpPr>
          <p:cNvPr id="10" name="Group 10"/>
          <p:cNvGrpSpPr/>
          <p:nvPr/>
        </p:nvGrpSpPr>
        <p:grpSpPr>
          <a:xfrm>
            <a:off x="3670170" y="3687052"/>
            <a:ext cx="10947659" cy="621657"/>
            <a:chOff x="0" y="0"/>
            <a:chExt cx="2883334" cy="163729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2883334" cy="163729"/>
            </a:xfrm>
            <a:custGeom>
              <a:avLst/>
              <a:gdLst/>
              <a:ahLst/>
              <a:cxnLst/>
              <a:rect l="l" t="t" r="r" b="b"/>
              <a:pathLst>
                <a:path w="2883334" h="163729">
                  <a:moveTo>
                    <a:pt x="203200" y="0"/>
                  </a:moveTo>
                  <a:lnTo>
                    <a:pt x="2883334" y="0"/>
                  </a:lnTo>
                  <a:lnTo>
                    <a:pt x="2680134" y="163729"/>
                  </a:lnTo>
                  <a:lnTo>
                    <a:pt x="0" y="163729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FF6201"/>
            </a:solidFill>
          </p:spPr>
          <p:txBody>
            <a:bodyPr/>
            <a:lstStyle/>
            <a:p>
              <a:endParaRPr lang="es-EC"/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01600" y="-47625"/>
              <a:ext cx="2680134" cy="21135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639"/>
                </a:lnSpc>
              </a:pPr>
              <a:r>
                <a:rPr lang="en-US" sz="2599" b="1">
                  <a:solidFill>
                    <a:srgbClr val="FFFFFF"/>
                  </a:solidFill>
                  <a:latin typeface="Inter Bold"/>
                  <a:ea typeface="Inter Bold"/>
                  <a:cs typeface="Inter Bold"/>
                  <a:sym typeface="Inter Bold"/>
                </a:rPr>
                <a:t>Herramienta automatizada para la Ingeniería de Requisitos</a:t>
              </a:r>
            </a:p>
          </p:txBody>
        </p:sp>
      </p:grpSp>
      <p:sp>
        <p:nvSpPr>
          <p:cNvPr id="13" name="Freeform 13"/>
          <p:cNvSpPr/>
          <p:nvPr/>
        </p:nvSpPr>
        <p:spPr>
          <a:xfrm>
            <a:off x="13230428" y="5469636"/>
            <a:ext cx="3152147" cy="3152147"/>
          </a:xfrm>
          <a:custGeom>
            <a:avLst/>
            <a:gdLst/>
            <a:ahLst/>
            <a:cxnLst/>
            <a:rect l="l" t="t" r="r" b="b"/>
            <a:pathLst>
              <a:path w="3152147" h="3152147">
                <a:moveTo>
                  <a:pt x="0" y="0"/>
                </a:moveTo>
                <a:lnTo>
                  <a:pt x="3152147" y="0"/>
                </a:lnTo>
                <a:lnTo>
                  <a:pt x="3152147" y="3152147"/>
                </a:lnTo>
                <a:lnTo>
                  <a:pt x="0" y="315214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s-EC"/>
          </a:p>
        </p:txBody>
      </p:sp>
      <p:sp>
        <p:nvSpPr>
          <p:cNvPr id="14" name="TextBox 14"/>
          <p:cNvSpPr txBox="1"/>
          <p:nvPr/>
        </p:nvSpPr>
        <p:spPr>
          <a:xfrm>
            <a:off x="1905425" y="1447800"/>
            <a:ext cx="14477150" cy="21014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5403"/>
              </a:lnSpc>
            </a:pPr>
            <a:r>
              <a:rPr lang="en-US" sz="16563" b="1" spc="-1076">
                <a:solidFill>
                  <a:srgbClr val="01BDBB"/>
                </a:solidFill>
                <a:latin typeface="Tomorrow Bold"/>
                <a:ea typeface="Tomorrow Bold"/>
                <a:cs typeface="Tomorrow Bold"/>
                <a:sym typeface="Tomorrow Bold"/>
              </a:rPr>
              <a:t>OpenReq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4521378" y="5961697"/>
            <a:ext cx="9245244" cy="23261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724"/>
              </a:lnSpc>
            </a:pPr>
            <a:r>
              <a:rPr lang="en-US" sz="2699">
                <a:solidFill>
                  <a:srgbClr val="FF6201"/>
                </a:solidFill>
                <a:latin typeface="Tomorrow"/>
                <a:ea typeface="Tomorrow"/>
                <a:cs typeface="Tomorrow"/>
                <a:sym typeface="Tomorrow"/>
              </a:rPr>
              <a:t>CHAVARRIA CUENCA TAHINY MEL</a:t>
            </a:r>
          </a:p>
          <a:p>
            <a:pPr algn="ctr">
              <a:lnSpc>
                <a:spcPts val="4724"/>
              </a:lnSpc>
            </a:pPr>
            <a:r>
              <a:rPr lang="en-US" sz="2699">
                <a:solidFill>
                  <a:srgbClr val="FF6201"/>
                </a:solidFill>
                <a:latin typeface="Tomorrow"/>
                <a:ea typeface="Tomorrow"/>
                <a:cs typeface="Tomorrow"/>
                <a:sym typeface="Tomorrow"/>
              </a:rPr>
              <a:t>MENDOZA PARRAGA ANDY JOHEL</a:t>
            </a:r>
          </a:p>
          <a:p>
            <a:pPr algn="ctr">
              <a:lnSpc>
                <a:spcPts val="4724"/>
              </a:lnSpc>
            </a:pPr>
            <a:r>
              <a:rPr lang="en-US" sz="2699">
                <a:solidFill>
                  <a:srgbClr val="FF6201"/>
                </a:solidFill>
                <a:latin typeface="Tomorrow"/>
                <a:ea typeface="Tomorrow"/>
                <a:cs typeface="Tomorrow"/>
                <a:sym typeface="Tomorrow"/>
              </a:rPr>
              <a:t>SANCHEZ CORNEJO GARY ALBERTO</a:t>
            </a:r>
          </a:p>
          <a:p>
            <a:pPr algn="ctr">
              <a:lnSpc>
                <a:spcPts val="4724"/>
              </a:lnSpc>
            </a:pPr>
            <a:r>
              <a:rPr lang="en-US" sz="2699">
                <a:solidFill>
                  <a:srgbClr val="FF6201"/>
                </a:solidFill>
                <a:latin typeface="Tomorrow"/>
                <a:ea typeface="Tomorrow"/>
                <a:cs typeface="Tomorrow"/>
                <a:sym typeface="Tomorrow"/>
              </a:rPr>
              <a:t>ZAMORA AGUILAR RONALDO WILFRIDO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905425" y="5248275"/>
            <a:ext cx="14477150" cy="5474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98"/>
              </a:lnSpc>
            </a:pPr>
            <a:r>
              <a:rPr lang="en-US" sz="4299" b="1" spc="-279">
                <a:solidFill>
                  <a:srgbClr val="01BDBB"/>
                </a:solidFill>
                <a:latin typeface="Tomorrow Bold"/>
                <a:ea typeface="Tomorrow Bold"/>
                <a:cs typeface="Tomorrow Bold"/>
                <a:sym typeface="Tomorrow Bold"/>
              </a:rPr>
              <a:t>Integrantes</a:t>
            </a:r>
          </a:p>
        </p:txBody>
      </p:sp>
      <p:sp>
        <p:nvSpPr>
          <p:cNvPr id="17" name="Freeform 17"/>
          <p:cNvSpPr/>
          <p:nvPr/>
        </p:nvSpPr>
        <p:spPr>
          <a:xfrm>
            <a:off x="2094097" y="5469636"/>
            <a:ext cx="3152147" cy="3152147"/>
          </a:xfrm>
          <a:custGeom>
            <a:avLst/>
            <a:gdLst/>
            <a:ahLst/>
            <a:cxnLst/>
            <a:rect l="l" t="t" r="r" b="b"/>
            <a:pathLst>
              <a:path w="3152147" h="3152147">
                <a:moveTo>
                  <a:pt x="0" y="0"/>
                </a:moveTo>
                <a:lnTo>
                  <a:pt x="3152147" y="0"/>
                </a:lnTo>
                <a:lnTo>
                  <a:pt x="3152147" y="3152147"/>
                </a:lnTo>
                <a:lnTo>
                  <a:pt x="0" y="315214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s-EC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479018" y="749988"/>
            <a:ext cx="17324773" cy="8821642"/>
            <a:chOff x="0" y="0"/>
            <a:chExt cx="4256676" cy="2167467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256676" cy="2167467"/>
            </a:xfrm>
            <a:custGeom>
              <a:avLst/>
              <a:gdLst/>
              <a:ahLst/>
              <a:cxnLst/>
              <a:rect l="l" t="t" r="r" b="b"/>
              <a:pathLst>
                <a:path w="4256676" h="2167467">
                  <a:moveTo>
                    <a:pt x="0" y="0"/>
                  </a:moveTo>
                  <a:lnTo>
                    <a:pt x="4256676" y="0"/>
                  </a:lnTo>
                  <a:lnTo>
                    <a:pt x="4256676" y="2167467"/>
                  </a:lnTo>
                  <a:lnTo>
                    <a:pt x="0" y="2167467"/>
                  </a:lnTo>
                  <a:close/>
                </a:path>
              </a:pathLst>
            </a:custGeom>
            <a:ln w="76200" cap="sq">
              <a:solidFill>
                <a:srgbClr val="01BDBB"/>
              </a:solidFill>
              <a:prstDash val="solid"/>
              <a:miter/>
            </a:ln>
          </p:spPr>
          <p:txBody>
            <a:bodyPr/>
            <a:lstStyle/>
            <a:p>
              <a:endParaRPr lang="es-EC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57150"/>
              <a:ext cx="4256676" cy="222461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8099253" y="749988"/>
            <a:ext cx="9704538" cy="8821642"/>
            <a:chOff x="0" y="0"/>
            <a:chExt cx="2384393" cy="2167467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384393" cy="2167467"/>
            </a:xfrm>
            <a:custGeom>
              <a:avLst/>
              <a:gdLst/>
              <a:ahLst/>
              <a:cxnLst/>
              <a:rect l="l" t="t" r="r" b="b"/>
              <a:pathLst>
                <a:path w="2384393" h="2167467">
                  <a:moveTo>
                    <a:pt x="0" y="0"/>
                  </a:moveTo>
                  <a:lnTo>
                    <a:pt x="2384393" y="0"/>
                  </a:lnTo>
                  <a:lnTo>
                    <a:pt x="2384393" y="2167467"/>
                  </a:lnTo>
                  <a:lnTo>
                    <a:pt x="0" y="2167467"/>
                  </a:lnTo>
                  <a:close/>
                </a:path>
              </a:pathLst>
            </a:custGeom>
            <a:ln w="76200" cap="sq">
              <a:solidFill>
                <a:srgbClr val="01BDBB"/>
              </a:solidFill>
              <a:prstDash val="solid"/>
              <a:miter/>
            </a:ln>
          </p:spPr>
          <p:txBody>
            <a:bodyPr/>
            <a:lstStyle/>
            <a:p>
              <a:endParaRPr lang="es-EC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57150"/>
              <a:ext cx="2384393" cy="222461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/>
            </a:p>
          </p:txBody>
        </p:sp>
      </p:grpSp>
      <p:sp>
        <p:nvSpPr>
          <p:cNvPr id="8" name="Freeform 8"/>
          <p:cNvSpPr/>
          <p:nvPr/>
        </p:nvSpPr>
        <p:spPr>
          <a:xfrm>
            <a:off x="13632068" y="749988"/>
            <a:ext cx="4178250" cy="4410821"/>
          </a:xfrm>
          <a:custGeom>
            <a:avLst/>
            <a:gdLst/>
            <a:ahLst/>
            <a:cxnLst/>
            <a:rect l="l" t="t" r="r" b="b"/>
            <a:pathLst>
              <a:path w="4178250" h="4410821">
                <a:moveTo>
                  <a:pt x="0" y="0"/>
                </a:moveTo>
                <a:lnTo>
                  <a:pt x="4178250" y="0"/>
                </a:lnTo>
                <a:lnTo>
                  <a:pt x="4178250" y="4410821"/>
                </a:lnTo>
                <a:lnTo>
                  <a:pt x="0" y="441082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EC"/>
          </a:p>
        </p:txBody>
      </p:sp>
      <p:sp>
        <p:nvSpPr>
          <p:cNvPr id="9" name="Freeform 9"/>
          <p:cNvSpPr/>
          <p:nvPr/>
        </p:nvSpPr>
        <p:spPr>
          <a:xfrm flipH="1" flipV="1">
            <a:off x="8099253" y="5160809"/>
            <a:ext cx="4178250" cy="4410821"/>
          </a:xfrm>
          <a:custGeom>
            <a:avLst/>
            <a:gdLst/>
            <a:ahLst/>
            <a:cxnLst/>
            <a:rect l="l" t="t" r="r" b="b"/>
            <a:pathLst>
              <a:path w="4178250" h="4410821">
                <a:moveTo>
                  <a:pt x="4178250" y="4410821"/>
                </a:moveTo>
                <a:lnTo>
                  <a:pt x="0" y="4410821"/>
                </a:lnTo>
                <a:lnTo>
                  <a:pt x="0" y="0"/>
                </a:lnTo>
                <a:lnTo>
                  <a:pt x="4178250" y="0"/>
                </a:lnTo>
                <a:lnTo>
                  <a:pt x="4178250" y="4410821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EC"/>
          </a:p>
        </p:txBody>
      </p:sp>
      <p:sp>
        <p:nvSpPr>
          <p:cNvPr id="10" name="TextBox 10"/>
          <p:cNvSpPr txBox="1"/>
          <p:nvPr/>
        </p:nvSpPr>
        <p:spPr>
          <a:xfrm>
            <a:off x="1028700" y="1741483"/>
            <a:ext cx="6401233" cy="176190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710"/>
              </a:lnSpc>
            </a:pPr>
            <a:r>
              <a:rPr lang="en-US" sz="7215" spc="-469">
                <a:solidFill>
                  <a:srgbClr val="004AAD"/>
                </a:solidFill>
                <a:latin typeface="Tomorrow"/>
                <a:ea typeface="Tomorrow"/>
                <a:cs typeface="Tomorrow"/>
                <a:sym typeface="Tomorrow"/>
              </a:rPr>
              <a:t>Descripción de la herramienta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028700" y="3875327"/>
            <a:ext cx="6757251" cy="47510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715"/>
              </a:lnSpc>
            </a:pPr>
            <a:r>
              <a:rPr lang="en-US" sz="2790">
                <a:solidFill>
                  <a:srgbClr val="004AAD"/>
                </a:solidFill>
                <a:latin typeface="Tomorrow"/>
                <a:ea typeface="Tomorrow"/>
                <a:cs typeface="Tomorrow"/>
                <a:sym typeface="Tomorrow"/>
              </a:rPr>
              <a:t>OpenReq es una plataforma desarrollada para apoyar la Ingeniería de Requisitos mediante inteligencia artificial y NPL. Analiza retroalimentación de usuarios, genera recomendaciones y facilita la toma de decisiones durante el desarrollo de software.</a:t>
            </a:r>
          </a:p>
        </p:txBody>
      </p:sp>
      <p:sp>
        <p:nvSpPr>
          <p:cNvPr id="12" name="Freeform 12"/>
          <p:cNvSpPr/>
          <p:nvPr/>
        </p:nvSpPr>
        <p:spPr>
          <a:xfrm>
            <a:off x="8533366" y="4018202"/>
            <a:ext cx="8836312" cy="2562530"/>
          </a:xfrm>
          <a:custGeom>
            <a:avLst/>
            <a:gdLst/>
            <a:ahLst/>
            <a:cxnLst/>
            <a:rect l="l" t="t" r="r" b="b"/>
            <a:pathLst>
              <a:path w="8836312" h="2562530">
                <a:moveTo>
                  <a:pt x="0" y="0"/>
                </a:moveTo>
                <a:lnTo>
                  <a:pt x="8836312" y="0"/>
                </a:lnTo>
                <a:lnTo>
                  <a:pt x="8836312" y="2562530"/>
                </a:lnTo>
                <a:lnTo>
                  <a:pt x="0" y="256253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s-EC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480253" y="731986"/>
            <a:ext cx="17327495" cy="8823028"/>
            <a:chOff x="0" y="0"/>
            <a:chExt cx="4256676" cy="2167467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256676" cy="2167467"/>
            </a:xfrm>
            <a:custGeom>
              <a:avLst/>
              <a:gdLst/>
              <a:ahLst/>
              <a:cxnLst/>
              <a:rect l="l" t="t" r="r" b="b"/>
              <a:pathLst>
                <a:path w="4256676" h="2167467">
                  <a:moveTo>
                    <a:pt x="0" y="0"/>
                  </a:moveTo>
                  <a:lnTo>
                    <a:pt x="4256676" y="0"/>
                  </a:lnTo>
                  <a:lnTo>
                    <a:pt x="4256676" y="2167467"/>
                  </a:lnTo>
                  <a:lnTo>
                    <a:pt x="0" y="2167467"/>
                  </a:lnTo>
                  <a:close/>
                </a:path>
              </a:pathLst>
            </a:custGeom>
            <a:ln w="76200" cap="sq">
              <a:solidFill>
                <a:srgbClr val="FF6201"/>
              </a:solidFill>
              <a:prstDash val="solid"/>
              <a:miter/>
            </a:ln>
          </p:spPr>
          <p:txBody>
            <a:bodyPr/>
            <a:lstStyle/>
            <a:p>
              <a:endParaRPr lang="es-EC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57150"/>
              <a:ext cx="4256676" cy="222461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480253" y="731986"/>
            <a:ext cx="8029119" cy="8823028"/>
            <a:chOff x="0" y="0"/>
            <a:chExt cx="10705492" cy="11764037"/>
          </a:xfrm>
        </p:grpSpPr>
        <p:grpSp>
          <p:nvGrpSpPr>
            <p:cNvPr id="6" name="Group 6"/>
            <p:cNvGrpSpPr/>
            <p:nvPr/>
          </p:nvGrpSpPr>
          <p:grpSpPr>
            <a:xfrm>
              <a:off x="0" y="0"/>
              <a:ext cx="10705492" cy="11764037"/>
              <a:chOff x="0" y="0"/>
              <a:chExt cx="1972435" cy="2167467"/>
            </a:xfrm>
          </p:grpSpPr>
          <p:sp>
            <p:nvSpPr>
              <p:cNvPr id="7" name="Freeform 7"/>
              <p:cNvSpPr/>
              <p:nvPr/>
            </p:nvSpPr>
            <p:spPr>
              <a:xfrm>
                <a:off x="0" y="0"/>
                <a:ext cx="1972435" cy="2167467"/>
              </a:xfrm>
              <a:custGeom>
                <a:avLst/>
                <a:gdLst/>
                <a:ahLst/>
                <a:cxnLst/>
                <a:rect l="l" t="t" r="r" b="b"/>
                <a:pathLst>
                  <a:path w="1972435" h="2167467">
                    <a:moveTo>
                      <a:pt x="0" y="0"/>
                    </a:moveTo>
                    <a:lnTo>
                      <a:pt x="1972435" y="0"/>
                    </a:lnTo>
                    <a:lnTo>
                      <a:pt x="1972435" y="2167467"/>
                    </a:lnTo>
                    <a:lnTo>
                      <a:pt x="0" y="2167467"/>
                    </a:lnTo>
                    <a:close/>
                  </a:path>
                </a:pathLst>
              </a:custGeom>
              <a:ln w="76200" cap="sq">
                <a:solidFill>
                  <a:srgbClr val="FF6201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s-EC"/>
              </a:p>
            </p:txBody>
          </p:sp>
          <p:sp>
            <p:nvSpPr>
              <p:cNvPr id="8" name="TextBox 8"/>
              <p:cNvSpPr txBox="1"/>
              <p:nvPr/>
            </p:nvSpPr>
            <p:spPr>
              <a:xfrm>
                <a:off x="0" y="-66675"/>
                <a:ext cx="1972435" cy="2234142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359"/>
                  </a:lnSpc>
                </a:pPr>
                <a:endParaRPr/>
              </a:p>
            </p:txBody>
          </p:sp>
        </p:grpSp>
        <p:sp>
          <p:nvSpPr>
            <p:cNvPr id="9" name="Freeform 9"/>
            <p:cNvSpPr/>
            <p:nvPr/>
          </p:nvSpPr>
          <p:spPr>
            <a:xfrm>
              <a:off x="5133616" y="0"/>
              <a:ext cx="5571876" cy="5882018"/>
            </a:xfrm>
            <a:custGeom>
              <a:avLst/>
              <a:gdLst/>
              <a:ahLst/>
              <a:cxnLst/>
              <a:rect l="l" t="t" r="r" b="b"/>
              <a:pathLst>
                <a:path w="5571876" h="5882018">
                  <a:moveTo>
                    <a:pt x="0" y="0"/>
                  </a:moveTo>
                  <a:lnTo>
                    <a:pt x="5571876" y="0"/>
                  </a:lnTo>
                  <a:lnTo>
                    <a:pt x="5571876" y="5882018"/>
                  </a:lnTo>
                  <a:lnTo>
                    <a:pt x="0" y="588201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EC"/>
            </a:p>
          </p:txBody>
        </p:sp>
        <p:sp>
          <p:nvSpPr>
            <p:cNvPr id="10" name="Freeform 10"/>
            <p:cNvSpPr/>
            <p:nvPr/>
          </p:nvSpPr>
          <p:spPr>
            <a:xfrm flipH="1" flipV="1">
              <a:off x="0" y="5882018"/>
              <a:ext cx="5571876" cy="5882018"/>
            </a:xfrm>
            <a:custGeom>
              <a:avLst/>
              <a:gdLst/>
              <a:ahLst/>
              <a:cxnLst/>
              <a:rect l="l" t="t" r="r" b="b"/>
              <a:pathLst>
                <a:path w="5571876" h="5882018">
                  <a:moveTo>
                    <a:pt x="5571876" y="5882019"/>
                  </a:moveTo>
                  <a:lnTo>
                    <a:pt x="0" y="5882019"/>
                  </a:lnTo>
                  <a:lnTo>
                    <a:pt x="0" y="0"/>
                  </a:lnTo>
                  <a:lnTo>
                    <a:pt x="5571876" y="0"/>
                  </a:lnTo>
                  <a:lnTo>
                    <a:pt x="5571876" y="5882019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EC"/>
            </a:p>
          </p:txBody>
        </p:sp>
      </p:grpSp>
      <p:sp>
        <p:nvSpPr>
          <p:cNvPr id="11" name="TextBox 11"/>
          <p:cNvSpPr txBox="1"/>
          <p:nvPr/>
        </p:nvSpPr>
        <p:spPr>
          <a:xfrm>
            <a:off x="8948021" y="1464458"/>
            <a:ext cx="8311279" cy="16625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339"/>
              </a:lnSpc>
            </a:pPr>
            <a:r>
              <a:rPr lang="en-US" sz="6817" spc="-443">
                <a:solidFill>
                  <a:srgbClr val="004AAD"/>
                </a:solidFill>
                <a:latin typeface="Tomorrow"/>
                <a:ea typeface="Tomorrow"/>
                <a:cs typeface="Tomorrow"/>
                <a:sym typeface="Tomorrow"/>
              </a:rPr>
              <a:t>Funcionalidades principales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8659030" y="3728037"/>
            <a:ext cx="8410852" cy="54171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69289" lvl="1" indent="-334645" algn="l">
              <a:lnSpc>
                <a:spcPts val="4339"/>
              </a:lnSpc>
              <a:spcBef>
                <a:spcPct val="0"/>
              </a:spcBef>
              <a:buFont typeface="Arial"/>
              <a:buChar char="•"/>
            </a:pPr>
            <a:r>
              <a:rPr lang="en-US" sz="3099">
                <a:solidFill>
                  <a:srgbClr val="004AAD"/>
                </a:solidFill>
                <a:latin typeface="Tomorrow"/>
                <a:ea typeface="Tomorrow"/>
                <a:cs typeface="Tomorrow"/>
                <a:sym typeface="Tomorrow"/>
              </a:rPr>
              <a:t>Análisis automático de comentarios y opiniones de usuarios.</a:t>
            </a:r>
          </a:p>
          <a:p>
            <a:pPr marL="669289" lvl="1" indent="-334645" algn="l">
              <a:lnSpc>
                <a:spcPts val="4339"/>
              </a:lnSpc>
              <a:spcBef>
                <a:spcPct val="0"/>
              </a:spcBef>
              <a:buFont typeface="Arial"/>
              <a:buChar char="•"/>
            </a:pPr>
            <a:r>
              <a:rPr lang="en-US" sz="3099">
                <a:solidFill>
                  <a:srgbClr val="004AAD"/>
                </a:solidFill>
                <a:latin typeface="Tomorrow"/>
                <a:ea typeface="Tomorrow"/>
                <a:cs typeface="Tomorrow"/>
                <a:sym typeface="Tomorrow"/>
              </a:rPr>
              <a:t>Panel de control con tendencias, actividad y sentimiento.</a:t>
            </a:r>
          </a:p>
          <a:p>
            <a:pPr marL="669289" lvl="1" indent="-334645" algn="l">
              <a:lnSpc>
                <a:spcPts val="4339"/>
              </a:lnSpc>
              <a:spcBef>
                <a:spcPct val="0"/>
              </a:spcBef>
              <a:buFont typeface="Arial"/>
              <a:buChar char="•"/>
            </a:pPr>
            <a:r>
              <a:rPr lang="en-US" sz="3099">
                <a:solidFill>
                  <a:srgbClr val="004AAD"/>
                </a:solidFill>
                <a:latin typeface="Tomorrow"/>
                <a:ea typeface="Tomorrow"/>
                <a:cs typeface="Tomorrow"/>
                <a:sym typeface="Tomorrow"/>
              </a:rPr>
              <a:t>Identificación de problemas, consultas y solicitudes de funcionalidades.</a:t>
            </a:r>
          </a:p>
          <a:p>
            <a:pPr marL="669289" lvl="1" indent="-334645" algn="l">
              <a:lnSpc>
                <a:spcPts val="4339"/>
              </a:lnSpc>
              <a:spcBef>
                <a:spcPct val="0"/>
              </a:spcBef>
              <a:buFont typeface="Arial"/>
              <a:buChar char="•"/>
            </a:pPr>
            <a:r>
              <a:rPr lang="en-US" sz="3099">
                <a:solidFill>
                  <a:srgbClr val="004AAD"/>
                </a:solidFill>
                <a:latin typeface="Tomorrow"/>
                <a:ea typeface="Tomorrow"/>
                <a:cs typeface="Tomorrow"/>
                <a:sym typeface="Tomorrow"/>
              </a:rPr>
              <a:t>Monitoreo continuo de la retroalimentación proveniente de múltiples fuentes.</a:t>
            </a:r>
          </a:p>
          <a:p>
            <a:pPr algn="l">
              <a:lnSpc>
                <a:spcPts val="4339"/>
              </a:lnSpc>
              <a:spcBef>
                <a:spcPct val="0"/>
              </a:spcBef>
            </a:pPr>
            <a:endParaRPr lang="en-US" sz="3099">
              <a:solidFill>
                <a:srgbClr val="004AAD"/>
              </a:solidFill>
              <a:latin typeface="Tomorrow"/>
              <a:ea typeface="Tomorrow"/>
              <a:cs typeface="Tomorrow"/>
              <a:sym typeface="Tomorrow"/>
            </a:endParaRPr>
          </a:p>
        </p:txBody>
      </p:sp>
      <p:sp>
        <p:nvSpPr>
          <p:cNvPr id="13" name="Freeform 13"/>
          <p:cNvSpPr/>
          <p:nvPr/>
        </p:nvSpPr>
        <p:spPr>
          <a:xfrm>
            <a:off x="814760" y="1813871"/>
            <a:ext cx="6760269" cy="6760269"/>
          </a:xfrm>
          <a:custGeom>
            <a:avLst/>
            <a:gdLst/>
            <a:ahLst/>
            <a:cxnLst/>
            <a:rect l="l" t="t" r="r" b="b"/>
            <a:pathLst>
              <a:path w="6760269" h="6760269">
                <a:moveTo>
                  <a:pt x="0" y="0"/>
                </a:moveTo>
                <a:lnTo>
                  <a:pt x="6760269" y="0"/>
                </a:lnTo>
                <a:lnTo>
                  <a:pt x="6760269" y="6760270"/>
                </a:lnTo>
                <a:lnTo>
                  <a:pt x="0" y="67602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EC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480253" y="731986"/>
            <a:ext cx="17327495" cy="8823028"/>
            <a:chOff x="0" y="0"/>
            <a:chExt cx="4256676" cy="2167467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256676" cy="2167467"/>
            </a:xfrm>
            <a:custGeom>
              <a:avLst/>
              <a:gdLst/>
              <a:ahLst/>
              <a:cxnLst/>
              <a:rect l="l" t="t" r="r" b="b"/>
              <a:pathLst>
                <a:path w="4256676" h="2167467">
                  <a:moveTo>
                    <a:pt x="0" y="0"/>
                  </a:moveTo>
                  <a:lnTo>
                    <a:pt x="4256676" y="0"/>
                  </a:lnTo>
                  <a:lnTo>
                    <a:pt x="4256676" y="2167467"/>
                  </a:lnTo>
                  <a:lnTo>
                    <a:pt x="0" y="2167467"/>
                  </a:lnTo>
                  <a:close/>
                </a:path>
              </a:pathLst>
            </a:custGeom>
            <a:ln w="76200" cap="sq">
              <a:solidFill>
                <a:srgbClr val="FF6201"/>
              </a:solidFill>
              <a:prstDash val="solid"/>
              <a:miter/>
            </a:ln>
          </p:spPr>
          <p:txBody>
            <a:bodyPr/>
            <a:lstStyle/>
            <a:p>
              <a:endParaRPr lang="es-EC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57150"/>
              <a:ext cx="4256676" cy="222461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028700" y="2143985"/>
            <a:ext cx="8935275" cy="6806378"/>
            <a:chOff x="0" y="0"/>
            <a:chExt cx="11913700" cy="9075171"/>
          </a:xfrm>
        </p:grpSpPr>
        <p:sp>
          <p:nvSpPr>
            <p:cNvPr id="6" name="TextBox 6"/>
            <p:cNvSpPr txBox="1"/>
            <p:nvPr/>
          </p:nvSpPr>
          <p:spPr>
            <a:xfrm>
              <a:off x="537049" y="66675"/>
              <a:ext cx="11376651" cy="50863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660"/>
                </a:lnSpc>
              </a:pPr>
              <a:endParaRPr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3047488"/>
              <a:ext cx="11527151" cy="602768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617689" lvl="1" indent="-308844" algn="l">
                <a:lnSpc>
                  <a:spcPts val="4005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sz="2860">
                  <a:solidFill>
                    <a:srgbClr val="004AAD"/>
                  </a:solidFill>
                  <a:latin typeface="Tomorrow"/>
                  <a:ea typeface="Tomorrow"/>
                  <a:cs typeface="Tomorrow"/>
                  <a:sym typeface="Tomorrow"/>
                </a:rPr>
                <a:t>Recomendación de requisitos relevantes y similares.</a:t>
              </a:r>
            </a:p>
            <a:p>
              <a:pPr marL="617689" lvl="1" indent="-308844" algn="l">
                <a:lnSpc>
                  <a:spcPts val="4005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sz="2860">
                  <a:solidFill>
                    <a:srgbClr val="004AAD"/>
                  </a:solidFill>
                  <a:latin typeface="Tomorrow"/>
                  <a:ea typeface="Tomorrow"/>
                  <a:cs typeface="Tomorrow"/>
                  <a:sym typeface="Tomorrow"/>
                </a:rPr>
                <a:t>Detección de dependencias y relaciones entre requisitos.</a:t>
              </a:r>
            </a:p>
            <a:p>
              <a:pPr marL="617689" lvl="1" indent="-308844" algn="l">
                <a:lnSpc>
                  <a:spcPts val="4005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sz="2860">
                  <a:solidFill>
                    <a:srgbClr val="004AAD"/>
                  </a:solidFill>
                  <a:latin typeface="Tomorrow"/>
                  <a:ea typeface="Tomorrow"/>
                  <a:cs typeface="Tomorrow"/>
                  <a:sym typeface="Tomorrow"/>
                </a:rPr>
                <a:t>Evaluación de la calidad de los requisitos y sugerencias de mejora.</a:t>
              </a:r>
            </a:p>
            <a:p>
              <a:pPr marL="617689" lvl="1" indent="-308844" algn="l">
                <a:lnSpc>
                  <a:spcPts val="4005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sz="2860">
                  <a:solidFill>
                    <a:srgbClr val="004AAD"/>
                  </a:solidFill>
                  <a:latin typeface="Tomorrow"/>
                  <a:ea typeface="Tomorrow"/>
                  <a:cs typeface="Tomorrow"/>
                  <a:sym typeface="Tomorrow"/>
                </a:rPr>
                <a:t>Predicción de prioridades e identificación de interesados clave.</a:t>
              </a:r>
            </a:p>
            <a:p>
              <a:pPr algn="l">
                <a:lnSpc>
                  <a:spcPts val="4005"/>
                </a:lnSpc>
                <a:spcBef>
                  <a:spcPct val="0"/>
                </a:spcBef>
              </a:pPr>
              <a:endParaRPr lang="en-US" sz="2860">
                <a:solidFill>
                  <a:srgbClr val="004AAD"/>
                </a:solidFill>
                <a:latin typeface="Tomorrow"/>
                <a:ea typeface="Tomorrow"/>
                <a:cs typeface="Tomorrow"/>
                <a:sym typeface="Tomorrow"/>
              </a:endParaRP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0531421" y="3778609"/>
            <a:ext cx="7298403" cy="5787646"/>
            <a:chOff x="0" y="0"/>
            <a:chExt cx="1788370" cy="141818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788370" cy="1418180"/>
            </a:xfrm>
            <a:custGeom>
              <a:avLst/>
              <a:gdLst/>
              <a:ahLst/>
              <a:cxnLst/>
              <a:rect l="l" t="t" r="r" b="b"/>
              <a:pathLst>
                <a:path w="1788370" h="1418180">
                  <a:moveTo>
                    <a:pt x="0" y="0"/>
                  </a:moveTo>
                  <a:lnTo>
                    <a:pt x="1788370" y="0"/>
                  </a:lnTo>
                  <a:lnTo>
                    <a:pt x="1788370" y="1418180"/>
                  </a:lnTo>
                  <a:lnTo>
                    <a:pt x="0" y="1418180"/>
                  </a:lnTo>
                  <a:close/>
                </a:path>
              </a:pathLst>
            </a:custGeom>
            <a:ln w="76200" cap="sq">
              <a:solidFill>
                <a:srgbClr val="FF6201"/>
              </a:solidFill>
              <a:prstDash val="solid"/>
              <a:miter/>
            </a:ln>
          </p:spPr>
          <p:txBody>
            <a:bodyPr/>
            <a:lstStyle/>
            <a:p>
              <a:endParaRPr lang="es-EC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-57150"/>
              <a:ext cx="1788370" cy="147533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/>
            </a:p>
          </p:txBody>
        </p:sp>
      </p:grpSp>
      <p:sp>
        <p:nvSpPr>
          <p:cNvPr id="11" name="Freeform 11"/>
          <p:cNvSpPr/>
          <p:nvPr/>
        </p:nvSpPr>
        <p:spPr>
          <a:xfrm flipH="1" flipV="1">
            <a:off x="10531421" y="5143500"/>
            <a:ext cx="4189555" cy="4422755"/>
          </a:xfrm>
          <a:custGeom>
            <a:avLst/>
            <a:gdLst/>
            <a:ahLst/>
            <a:cxnLst/>
            <a:rect l="l" t="t" r="r" b="b"/>
            <a:pathLst>
              <a:path w="4189555" h="4422755">
                <a:moveTo>
                  <a:pt x="4189556" y="4422755"/>
                </a:moveTo>
                <a:lnTo>
                  <a:pt x="0" y="4422755"/>
                </a:lnTo>
                <a:lnTo>
                  <a:pt x="0" y="0"/>
                </a:lnTo>
                <a:lnTo>
                  <a:pt x="4189556" y="0"/>
                </a:lnTo>
                <a:lnTo>
                  <a:pt x="4189556" y="4422755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EC"/>
          </a:p>
        </p:txBody>
      </p:sp>
      <p:sp>
        <p:nvSpPr>
          <p:cNvPr id="12" name="Freeform 12"/>
          <p:cNvSpPr/>
          <p:nvPr/>
        </p:nvSpPr>
        <p:spPr>
          <a:xfrm>
            <a:off x="13640269" y="3778609"/>
            <a:ext cx="4189555" cy="4422755"/>
          </a:xfrm>
          <a:custGeom>
            <a:avLst/>
            <a:gdLst/>
            <a:ahLst/>
            <a:cxnLst/>
            <a:rect l="l" t="t" r="r" b="b"/>
            <a:pathLst>
              <a:path w="4189555" h="4422755">
                <a:moveTo>
                  <a:pt x="0" y="0"/>
                </a:moveTo>
                <a:lnTo>
                  <a:pt x="4189555" y="0"/>
                </a:lnTo>
                <a:lnTo>
                  <a:pt x="4189555" y="4422756"/>
                </a:lnTo>
                <a:lnTo>
                  <a:pt x="0" y="442275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EC"/>
          </a:p>
        </p:txBody>
      </p:sp>
      <p:sp>
        <p:nvSpPr>
          <p:cNvPr id="13" name="Freeform 13"/>
          <p:cNvSpPr/>
          <p:nvPr/>
        </p:nvSpPr>
        <p:spPr>
          <a:xfrm>
            <a:off x="12323665" y="4630780"/>
            <a:ext cx="3725764" cy="4114800"/>
          </a:xfrm>
          <a:custGeom>
            <a:avLst/>
            <a:gdLst/>
            <a:ahLst/>
            <a:cxnLst/>
            <a:rect l="l" t="t" r="r" b="b"/>
            <a:pathLst>
              <a:path w="3725764" h="4114800">
                <a:moveTo>
                  <a:pt x="0" y="0"/>
                </a:moveTo>
                <a:lnTo>
                  <a:pt x="3725764" y="0"/>
                </a:lnTo>
                <a:lnTo>
                  <a:pt x="372576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EC"/>
          </a:p>
        </p:txBody>
      </p:sp>
      <p:grpSp>
        <p:nvGrpSpPr>
          <p:cNvPr id="14" name="Group 14"/>
          <p:cNvGrpSpPr/>
          <p:nvPr/>
        </p:nvGrpSpPr>
        <p:grpSpPr>
          <a:xfrm>
            <a:off x="802460" y="1498594"/>
            <a:ext cx="16683080" cy="3644906"/>
            <a:chOff x="0" y="0"/>
            <a:chExt cx="22244106" cy="4859874"/>
          </a:xfrm>
        </p:grpSpPr>
        <p:sp>
          <p:nvSpPr>
            <p:cNvPr id="15" name="TextBox 15"/>
            <p:cNvSpPr txBox="1"/>
            <p:nvPr/>
          </p:nvSpPr>
          <p:spPr>
            <a:xfrm>
              <a:off x="145211" y="209550"/>
              <a:ext cx="21953685" cy="151116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7876"/>
                </a:lnSpc>
              </a:pPr>
              <a:r>
                <a:rPr lang="en-US" sz="8469" spc="-550">
                  <a:solidFill>
                    <a:srgbClr val="004AAD"/>
                  </a:solidFill>
                  <a:latin typeface="Tomorrow"/>
                  <a:ea typeface="Tomorrow"/>
                  <a:cs typeface="Tomorrow"/>
                  <a:sym typeface="Tomorrow"/>
                </a:rPr>
                <a:t>Funcionalidades principales 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0" y="4355545"/>
              <a:ext cx="22244106" cy="50432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170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7" name="AutoShape 17"/>
          <p:cNvSpPr/>
          <p:nvPr/>
        </p:nvSpPr>
        <p:spPr>
          <a:xfrm>
            <a:off x="480253" y="3735747"/>
            <a:ext cx="17490099" cy="0"/>
          </a:xfrm>
          <a:prstGeom prst="line">
            <a:avLst/>
          </a:prstGeom>
          <a:ln w="85725" cap="flat">
            <a:solidFill>
              <a:srgbClr val="FF6201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s-EC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458176" y="720745"/>
            <a:ext cx="17371649" cy="8845511"/>
            <a:chOff x="0" y="0"/>
            <a:chExt cx="4256676" cy="2167467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256676" cy="2167467"/>
            </a:xfrm>
            <a:custGeom>
              <a:avLst/>
              <a:gdLst/>
              <a:ahLst/>
              <a:cxnLst/>
              <a:rect l="l" t="t" r="r" b="b"/>
              <a:pathLst>
                <a:path w="4256676" h="2167467">
                  <a:moveTo>
                    <a:pt x="0" y="0"/>
                  </a:moveTo>
                  <a:lnTo>
                    <a:pt x="4256676" y="0"/>
                  </a:lnTo>
                  <a:lnTo>
                    <a:pt x="4256676" y="2167467"/>
                  </a:lnTo>
                  <a:lnTo>
                    <a:pt x="0" y="2167467"/>
                  </a:lnTo>
                  <a:close/>
                </a:path>
              </a:pathLst>
            </a:custGeom>
            <a:ln w="76200" cap="sq">
              <a:solidFill>
                <a:srgbClr val="01BDBB"/>
              </a:solidFill>
              <a:prstDash val="solid"/>
              <a:miter/>
            </a:ln>
          </p:spPr>
          <p:txBody>
            <a:bodyPr/>
            <a:lstStyle/>
            <a:p>
              <a:endParaRPr lang="es-EC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57150"/>
              <a:ext cx="4256676" cy="222461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0531421" y="3778609"/>
            <a:ext cx="7298403" cy="5787646"/>
            <a:chOff x="0" y="0"/>
            <a:chExt cx="1788370" cy="141818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788370" cy="1418180"/>
            </a:xfrm>
            <a:custGeom>
              <a:avLst/>
              <a:gdLst/>
              <a:ahLst/>
              <a:cxnLst/>
              <a:rect l="l" t="t" r="r" b="b"/>
              <a:pathLst>
                <a:path w="1788370" h="1418180">
                  <a:moveTo>
                    <a:pt x="0" y="0"/>
                  </a:moveTo>
                  <a:lnTo>
                    <a:pt x="1788370" y="0"/>
                  </a:lnTo>
                  <a:lnTo>
                    <a:pt x="1788370" y="1418180"/>
                  </a:lnTo>
                  <a:lnTo>
                    <a:pt x="0" y="1418180"/>
                  </a:lnTo>
                  <a:close/>
                </a:path>
              </a:pathLst>
            </a:custGeom>
            <a:ln w="76200" cap="sq">
              <a:solidFill>
                <a:srgbClr val="01BDBB"/>
              </a:solidFill>
              <a:prstDash val="solid"/>
              <a:miter/>
            </a:ln>
          </p:spPr>
          <p:txBody>
            <a:bodyPr/>
            <a:lstStyle/>
            <a:p>
              <a:endParaRPr lang="es-EC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57150"/>
              <a:ext cx="1788370" cy="147533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/>
            </a:p>
          </p:txBody>
        </p:sp>
      </p:grpSp>
      <p:sp>
        <p:nvSpPr>
          <p:cNvPr id="8" name="Freeform 8"/>
          <p:cNvSpPr/>
          <p:nvPr/>
        </p:nvSpPr>
        <p:spPr>
          <a:xfrm>
            <a:off x="13640269" y="3778609"/>
            <a:ext cx="4189555" cy="4422755"/>
          </a:xfrm>
          <a:custGeom>
            <a:avLst/>
            <a:gdLst/>
            <a:ahLst/>
            <a:cxnLst/>
            <a:rect l="l" t="t" r="r" b="b"/>
            <a:pathLst>
              <a:path w="4189555" h="4422755">
                <a:moveTo>
                  <a:pt x="0" y="0"/>
                </a:moveTo>
                <a:lnTo>
                  <a:pt x="4189555" y="0"/>
                </a:lnTo>
                <a:lnTo>
                  <a:pt x="4189555" y="4422756"/>
                </a:lnTo>
                <a:lnTo>
                  <a:pt x="0" y="442275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EC"/>
          </a:p>
        </p:txBody>
      </p:sp>
      <p:sp>
        <p:nvSpPr>
          <p:cNvPr id="9" name="Freeform 9"/>
          <p:cNvSpPr/>
          <p:nvPr/>
        </p:nvSpPr>
        <p:spPr>
          <a:xfrm flipH="1" flipV="1">
            <a:off x="10531421" y="5143500"/>
            <a:ext cx="4189555" cy="4422755"/>
          </a:xfrm>
          <a:custGeom>
            <a:avLst/>
            <a:gdLst/>
            <a:ahLst/>
            <a:cxnLst/>
            <a:rect l="l" t="t" r="r" b="b"/>
            <a:pathLst>
              <a:path w="4189555" h="4422755">
                <a:moveTo>
                  <a:pt x="4189556" y="4422755"/>
                </a:moveTo>
                <a:lnTo>
                  <a:pt x="0" y="4422755"/>
                </a:lnTo>
                <a:lnTo>
                  <a:pt x="0" y="0"/>
                </a:lnTo>
                <a:lnTo>
                  <a:pt x="4189556" y="0"/>
                </a:lnTo>
                <a:lnTo>
                  <a:pt x="4189556" y="4422755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EC"/>
          </a:p>
        </p:txBody>
      </p:sp>
      <p:sp>
        <p:nvSpPr>
          <p:cNvPr id="10" name="AutoShape 10"/>
          <p:cNvSpPr/>
          <p:nvPr/>
        </p:nvSpPr>
        <p:spPr>
          <a:xfrm>
            <a:off x="458176" y="2727531"/>
            <a:ext cx="17490099" cy="0"/>
          </a:xfrm>
          <a:prstGeom prst="line">
            <a:avLst/>
          </a:prstGeom>
          <a:ln w="85725" cap="flat">
            <a:solidFill>
              <a:srgbClr val="01BDBB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s-EC"/>
          </a:p>
        </p:txBody>
      </p:sp>
      <p:sp>
        <p:nvSpPr>
          <p:cNvPr id="11" name="TextBox 11"/>
          <p:cNvSpPr txBox="1"/>
          <p:nvPr/>
        </p:nvSpPr>
        <p:spPr>
          <a:xfrm>
            <a:off x="1028700" y="1437879"/>
            <a:ext cx="9809499" cy="8755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438"/>
              </a:lnSpc>
            </a:pPr>
            <a:r>
              <a:rPr lang="en-US" sz="6923" spc="-450">
                <a:solidFill>
                  <a:srgbClr val="004AAD"/>
                </a:solidFill>
                <a:latin typeface="Tomorrow"/>
                <a:ea typeface="Tomorrow"/>
                <a:cs typeface="Tomorrow"/>
                <a:sym typeface="Tomorrow"/>
              </a:rPr>
              <a:t>Ventajas de OpenReq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458176" y="2884006"/>
            <a:ext cx="9695982" cy="69379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48229" lvl="1" indent="-324115" algn="l">
              <a:lnSpc>
                <a:spcPts val="4623"/>
              </a:lnSpc>
              <a:buFont typeface="Arial"/>
              <a:buChar char="•"/>
            </a:pPr>
            <a:r>
              <a:rPr lang="en-US" sz="3002">
                <a:solidFill>
                  <a:srgbClr val="004AAD"/>
                </a:solidFill>
                <a:latin typeface="Tomorrow"/>
                <a:ea typeface="Tomorrow"/>
                <a:cs typeface="Tomorrow"/>
                <a:sym typeface="Tomorrow"/>
              </a:rPr>
              <a:t>Automatiza el análisis de feedback de usuarios.</a:t>
            </a:r>
          </a:p>
          <a:p>
            <a:pPr marL="648229" lvl="1" indent="-324115" algn="l">
              <a:lnSpc>
                <a:spcPts val="4623"/>
              </a:lnSpc>
              <a:buFont typeface="Arial"/>
              <a:buChar char="•"/>
            </a:pPr>
            <a:r>
              <a:rPr lang="en-US" sz="3002">
                <a:solidFill>
                  <a:srgbClr val="004AAD"/>
                </a:solidFill>
                <a:latin typeface="Tomorrow"/>
                <a:ea typeface="Tomorrow"/>
                <a:cs typeface="Tomorrow"/>
                <a:sym typeface="Tomorrow"/>
              </a:rPr>
              <a:t>Facilita decisiones basadas en necesidades reales.</a:t>
            </a:r>
          </a:p>
          <a:p>
            <a:pPr marL="648229" lvl="1" indent="-324115" algn="l">
              <a:lnSpc>
                <a:spcPts val="4623"/>
              </a:lnSpc>
              <a:buFont typeface="Arial"/>
              <a:buChar char="•"/>
            </a:pPr>
            <a:r>
              <a:rPr lang="en-US" sz="3002">
                <a:solidFill>
                  <a:srgbClr val="004AAD"/>
                </a:solidFill>
                <a:latin typeface="Tomorrow"/>
                <a:ea typeface="Tomorrow"/>
                <a:cs typeface="Tomorrow"/>
                <a:sym typeface="Tomorrow"/>
              </a:rPr>
              <a:t>Visualiza relaciones entre requisitos e incidencias.</a:t>
            </a:r>
          </a:p>
          <a:p>
            <a:pPr marL="648229" lvl="1" indent="-324115" algn="l">
              <a:lnSpc>
                <a:spcPts val="4623"/>
              </a:lnSpc>
              <a:buFont typeface="Arial"/>
              <a:buChar char="•"/>
            </a:pPr>
            <a:r>
              <a:rPr lang="en-US" sz="3002">
                <a:solidFill>
                  <a:srgbClr val="004AAD"/>
                </a:solidFill>
                <a:latin typeface="Tomorrow"/>
                <a:ea typeface="Tomorrow"/>
                <a:cs typeface="Tomorrow"/>
                <a:sym typeface="Tomorrow"/>
              </a:rPr>
              <a:t>Detecta duplicados, enlaces faltantes e inconsistencias.</a:t>
            </a:r>
          </a:p>
          <a:p>
            <a:pPr marL="648229" lvl="1" indent="-324115" algn="l">
              <a:lnSpc>
                <a:spcPts val="4623"/>
              </a:lnSpc>
              <a:buFont typeface="Arial"/>
              <a:buChar char="•"/>
            </a:pPr>
            <a:r>
              <a:rPr lang="en-US" sz="3002">
                <a:solidFill>
                  <a:srgbClr val="004AAD"/>
                </a:solidFill>
                <a:latin typeface="Tomorrow"/>
                <a:ea typeface="Tomorrow"/>
                <a:cs typeface="Tomorrow"/>
                <a:sym typeface="Tomorrow"/>
              </a:rPr>
              <a:t>Extrae dependencias entre requisitos en lenguaje natural.</a:t>
            </a:r>
          </a:p>
          <a:p>
            <a:pPr marL="648229" lvl="1" indent="-324115" algn="l">
              <a:lnSpc>
                <a:spcPts val="4623"/>
              </a:lnSpc>
              <a:buFont typeface="Arial"/>
              <a:buChar char="•"/>
            </a:pPr>
            <a:r>
              <a:rPr lang="en-US" sz="3002">
                <a:solidFill>
                  <a:srgbClr val="004AAD"/>
                </a:solidFill>
                <a:latin typeface="Tomorrow"/>
                <a:ea typeface="Tomorrow"/>
                <a:cs typeface="Tomorrow"/>
                <a:sym typeface="Tomorrow"/>
              </a:rPr>
              <a:t>Reduce el esfuerzo manual del analista de requisitos.</a:t>
            </a:r>
          </a:p>
          <a:p>
            <a:pPr algn="l">
              <a:lnSpc>
                <a:spcPts val="4623"/>
              </a:lnSpc>
            </a:pPr>
            <a:endParaRPr lang="en-US" sz="3002">
              <a:solidFill>
                <a:srgbClr val="004AAD"/>
              </a:solidFill>
              <a:latin typeface="Tomorrow"/>
              <a:ea typeface="Tomorrow"/>
              <a:cs typeface="Tomorrow"/>
              <a:sym typeface="Tomorrow"/>
            </a:endParaRPr>
          </a:p>
        </p:txBody>
      </p:sp>
      <p:sp>
        <p:nvSpPr>
          <p:cNvPr id="13" name="Freeform 13"/>
          <p:cNvSpPr/>
          <p:nvPr/>
        </p:nvSpPr>
        <p:spPr>
          <a:xfrm>
            <a:off x="11241918" y="4461599"/>
            <a:ext cx="4796701" cy="4796701"/>
          </a:xfrm>
          <a:custGeom>
            <a:avLst/>
            <a:gdLst/>
            <a:ahLst/>
            <a:cxnLst/>
            <a:rect l="l" t="t" r="r" b="b"/>
            <a:pathLst>
              <a:path w="4796701" h="4796701">
                <a:moveTo>
                  <a:pt x="0" y="0"/>
                </a:moveTo>
                <a:lnTo>
                  <a:pt x="4796701" y="0"/>
                </a:lnTo>
                <a:lnTo>
                  <a:pt x="4796701" y="4796701"/>
                </a:lnTo>
                <a:lnTo>
                  <a:pt x="0" y="479670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s-EC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4481215" cy="252068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481214" cy="2520683"/>
            </a:xfrm>
            <a:custGeom>
              <a:avLst/>
              <a:gdLst/>
              <a:ahLst/>
              <a:cxnLst/>
              <a:rect l="l" t="t" r="r" b="b"/>
              <a:pathLst>
                <a:path w="4481214" h="2520683">
                  <a:moveTo>
                    <a:pt x="0" y="0"/>
                  </a:moveTo>
                  <a:lnTo>
                    <a:pt x="4481214" y="0"/>
                  </a:lnTo>
                  <a:lnTo>
                    <a:pt x="4481214" y="2520683"/>
                  </a:lnTo>
                  <a:lnTo>
                    <a:pt x="0" y="2520683"/>
                  </a:lnTo>
                  <a:close/>
                </a:path>
              </a:pathLst>
            </a:custGeom>
            <a:ln w="76200" cap="sq">
              <a:solidFill>
                <a:srgbClr val="01BDBB"/>
              </a:solidFill>
              <a:prstDash val="solid"/>
              <a:miter/>
            </a:ln>
          </p:spPr>
          <p:txBody>
            <a:bodyPr/>
            <a:lstStyle/>
            <a:p>
              <a:endParaRPr lang="es-EC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57150"/>
              <a:ext cx="4481215" cy="25778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/>
            </a:p>
          </p:txBody>
        </p:sp>
      </p:grpSp>
      <p:graphicFrame>
        <p:nvGraphicFramePr>
          <p:cNvPr id="5" name="Table 5"/>
          <p:cNvGraphicFramePr>
            <a:graphicFrameLocks noGrp="1"/>
          </p:cNvGraphicFramePr>
          <p:nvPr/>
        </p:nvGraphicFramePr>
        <p:xfrm>
          <a:off x="1010577" y="2183140"/>
          <a:ext cx="16248724" cy="7391400"/>
        </p:xfrm>
        <a:graphic>
          <a:graphicData uri="http://schemas.openxmlformats.org/drawingml/2006/table">
            <a:tbl>
              <a:tblPr/>
              <a:tblGrid>
                <a:gridCol w="812436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12436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777681">
                <a:tc>
                  <a:txBody>
                    <a:bodyPr/>
                    <a:lstStyle/>
                    <a:p>
                      <a:pPr algn="ctr">
                        <a:lnSpc>
                          <a:spcPts val="5599"/>
                        </a:lnSpc>
                        <a:defRPr/>
                      </a:pPr>
                      <a:r>
                        <a:rPr lang="en-US" sz="3999" b="1">
                          <a:solidFill>
                            <a:srgbClr val="3C67BF"/>
                          </a:solidFill>
                          <a:latin typeface="Tomorrow Bold"/>
                          <a:ea typeface="Tomorrow Bold"/>
                          <a:cs typeface="Tomorrow Bold"/>
                          <a:sym typeface="Tomorrow Bold"/>
                        </a:rPr>
                        <a:t>CONCEPTO DE IR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FF620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620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620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620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5599"/>
                        </a:lnSpc>
                        <a:defRPr/>
                      </a:pPr>
                      <a:r>
                        <a:rPr lang="en-US" sz="3999" b="1">
                          <a:solidFill>
                            <a:srgbClr val="3C67BF"/>
                          </a:solidFill>
                          <a:latin typeface="Tomorrow Bold"/>
                          <a:ea typeface="Tomorrow Bold"/>
                          <a:cs typeface="Tomorrow Bold"/>
                          <a:sym typeface="Tomorrow Bold"/>
                        </a:rPr>
                        <a:t>VENTAJA DE OPENREQ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FF620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620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620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620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43547">
                <a:tc>
                  <a:txBody>
                    <a:bodyPr/>
                    <a:lstStyle/>
                    <a:p>
                      <a:pPr algn="ctr">
                        <a:lnSpc>
                          <a:spcPts val="4479"/>
                        </a:lnSpc>
                        <a:defRPr/>
                      </a:pPr>
                      <a:r>
                        <a:rPr lang="en-US" sz="3199" b="1">
                          <a:solidFill>
                            <a:srgbClr val="3C67BF"/>
                          </a:solidFill>
                          <a:latin typeface="Tomorrow Bold"/>
                          <a:ea typeface="Tomorrow Bold"/>
                          <a:cs typeface="Tomorrow Bold"/>
                          <a:sym typeface="Tomorrow Bold"/>
                        </a:rPr>
                        <a:t>Elicitación de requisitos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FF620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620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620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620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4479"/>
                        </a:lnSpc>
                        <a:defRPr/>
                      </a:pPr>
                      <a:r>
                        <a:rPr lang="en-US" sz="3199">
                          <a:solidFill>
                            <a:srgbClr val="3C67BF"/>
                          </a:solidFill>
                          <a:latin typeface="Tomorrow"/>
                          <a:ea typeface="Tomorrow"/>
                          <a:cs typeface="Tomorrow"/>
                          <a:sym typeface="Tomorrow"/>
                        </a:rPr>
                        <a:t>Analiza feedback de usuarios.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FF620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620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620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620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685086">
                <a:tc>
                  <a:txBody>
                    <a:bodyPr/>
                    <a:lstStyle/>
                    <a:p>
                      <a:pPr algn="ctr">
                        <a:lnSpc>
                          <a:spcPts val="4479"/>
                        </a:lnSpc>
                        <a:defRPr/>
                      </a:pPr>
                      <a:r>
                        <a:rPr lang="en-US" sz="3199" b="1">
                          <a:solidFill>
                            <a:srgbClr val="3C67BF"/>
                          </a:solidFill>
                          <a:latin typeface="Tomorrow Bold"/>
                          <a:ea typeface="Tomorrow Bold"/>
                          <a:cs typeface="Tomorrow Bold"/>
                          <a:sym typeface="Tomorrow Bold"/>
                        </a:rPr>
                        <a:t>Análisis de requisitos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FF620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620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620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620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4479"/>
                        </a:lnSpc>
                        <a:defRPr/>
                      </a:pPr>
                      <a:r>
                        <a:rPr lang="en-US" sz="3199">
                          <a:solidFill>
                            <a:srgbClr val="3C67BF"/>
                          </a:solidFill>
                          <a:latin typeface="Tomorrow"/>
                          <a:ea typeface="Tomorrow"/>
                          <a:cs typeface="Tomorrow"/>
                          <a:sym typeface="Tomorrow"/>
                        </a:rPr>
                        <a:t>Identifica problemas, solicitudes, tendencias y dependencias.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FF620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620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620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620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685086">
                <a:tc>
                  <a:txBody>
                    <a:bodyPr/>
                    <a:lstStyle/>
                    <a:p>
                      <a:pPr algn="ctr">
                        <a:lnSpc>
                          <a:spcPts val="4479"/>
                        </a:lnSpc>
                        <a:defRPr/>
                      </a:pPr>
                      <a:r>
                        <a:rPr lang="en-US" sz="3199" b="1">
                          <a:solidFill>
                            <a:srgbClr val="3C67BF"/>
                          </a:solidFill>
                          <a:latin typeface="Tomorrow Bold"/>
                          <a:ea typeface="Tomorrow Bold"/>
                          <a:cs typeface="Tomorrow Bold"/>
                          <a:sym typeface="Tomorrow Bold"/>
                        </a:rPr>
                        <a:t> Trazabilidad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FF620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620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620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620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4479"/>
                        </a:lnSpc>
                        <a:defRPr/>
                      </a:pPr>
                      <a:r>
                        <a:rPr lang="en-US" sz="3199">
                          <a:solidFill>
                            <a:srgbClr val="3C67BF"/>
                          </a:solidFill>
                          <a:latin typeface="Tomorrow"/>
                          <a:ea typeface="Tomorrow"/>
                          <a:cs typeface="Tomorrow"/>
                          <a:sym typeface="Tomorrow"/>
                        </a:rPr>
                        <a:t>Visualiza enlaces, dependencias e inconsistencias.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FF620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620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620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620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6" name="TextBox 6"/>
          <p:cNvSpPr txBox="1"/>
          <p:nvPr/>
        </p:nvSpPr>
        <p:spPr>
          <a:xfrm>
            <a:off x="506859" y="396613"/>
            <a:ext cx="17274282" cy="14070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353"/>
              </a:lnSpc>
            </a:pPr>
            <a:r>
              <a:rPr lang="en-US" sz="5756" spc="-374">
                <a:solidFill>
                  <a:srgbClr val="004AAD"/>
                </a:solidFill>
                <a:latin typeface="Tomorrow"/>
                <a:ea typeface="Tomorrow"/>
                <a:cs typeface="Tomorrow"/>
                <a:sym typeface="Tomorrow"/>
              </a:rPr>
              <a:t>Relación con conceptos de  la Ingeniería de Requerimientos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4481215" cy="252068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481214" cy="2520683"/>
            </a:xfrm>
            <a:custGeom>
              <a:avLst/>
              <a:gdLst/>
              <a:ahLst/>
              <a:cxnLst/>
              <a:rect l="l" t="t" r="r" b="b"/>
              <a:pathLst>
                <a:path w="4481214" h="2520683">
                  <a:moveTo>
                    <a:pt x="0" y="0"/>
                  </a:moveTo>
                  <a:lnTo>
                    <a:pt x="4481214" y="0"/>
                  </a:lnTo>
                  <a:lnTo>
                    <a:pt x="4481214" y="2520683"/>
                  </a:lnTo>
                  <a:lnTo>
                    <a:pt x="0" y="2520683"/>
                  </a:lnTo>
                  <a:close/>
                </a:path>
              </a:pathLst>
            </a:custGeom>
            <a:ln w="76200" cap="sq">
              <a:solidFill>
                <a:srgbClr val="01BDBB"/>
              </a:solidFill>
              <a:prstDash val="solid"/>
              <a:miter/>
            </a:ln>
          </p:spPr>
          <p:txBody>
            <a:bodyPr/>
            <a:lstStyle/>
            <a:p>
              <a:endParaRPr lang="es-EC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57150"/>
              <a:ext cx="4481215" cy="25778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/>
            </a:p>
          </p:txBody>
        </p:sp>
      </p:grpSp>
      <p:graphicFrame>
        <p:nvGraphicFramePr>
          <p:cNvPr id="5" name="Table 5"/>
          <p:cNvGraphicFramePr>
            <a:graphicFrameLocks noGrp="1"/>
          </p:cNvGraphicFramePr>
          <p:nvPr/>
        </p:nvGraphicFramePr>
        <p:xfrm>
          <a:off x="1010577" y="2183140"/>
          <a:ext cx="16248724" cy="7391400"/>
        </p:xfrm>
        <a:graphic>
          <a:graphicData uri="http://schemas.openxmlformats.org/drawingml/2006/table">
            <a:tbl>
              <a:tblPr/>
              <a:tblGrid>
                <a:gridCol w="812436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12436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777681">
                <a:tc>
                  <a:txBody>
                    <a:bodyPr/>
                    <a:lstStyle/>
                    <a:p>
                      <a:pPr algn="ctr">
                        <a:lnSpc>
                          <a:spcPts val="5599"/>
                        </a:lnSpc>
                        <a:defRPr/>
                      </a:pPr>
                      <a:r>
                        <a:rPr lang="en-US" sz="3999" b="1">
                          <a:solidFill>
                            <a:srgbClr val="3C67BF"/>
                          </a:solidFill>
                          <a:latin typeface="Tomorrow Bold"/>
                          <a:ea typeface="Tomorrow Bold"/>
                          <a:cs typeface="Tomorrow Bold"/>
                          <a:sym typeface="Tomorrow Bold"/>
                        </a:rPr>
                        <a:t>CONCEPTO DE IR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FF620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620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620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620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5599"/>
                        </a:lnSpc>
                        <a:defRPr/>
                      </a:pPr>
                      <a:r>
                        <a:rPr lang="en-US" sz="3999" b="1">
                          <a:solidFill>
                            <a:srgbClr val="3C67BF"/>
                          </a:solidFill>
                          <a:latin typeface="Tomorrow Bold"/>
                          <a:ea typeface="Tomorrow Bold"/>
                          <a:cs typeface="Tomorrow Bold"/>
                          <a:sym typeface="Tomorrow Bold"/>
                        </a:rPr>
                        <a:t>RELACIÓN CON OPENREQ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FF620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620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620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620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43547">
                <a:tc>
                  <a:txBody>
                    <a:bodyPr/>
                    <a:lstStyle/>
                    <a:p>
                      <a:pPr algn="ctr">
                        <a:lnSpc>
                          <a:spcPts val="4479"/>
                        </a:lnSpc>
                        <a:defRPr/>
                      </a:pPr>
                      <a:r>
                        <a:rPr lang="en-US" sz="2400" b="1">
                          <a:solidFill>
                            <a:srgbClr val="3C67BF"/>
                          </a:solidFill>
                          <a:latin typeface="Tomorrow Bold"/>
                          <a:ea typeface="Tomorrow Bold"/>
                          <a:cs typeface="Tomorrow Bold"/>
                          <a:sym typeface="Tomorrow Bold"/>
                        </a:rPr>
                        <a:t>ISO/IEC 25010 (Calidad)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FF620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620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620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620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4479"/>
                        </a:lnSpc>
                        <a:defRPr/>
                      </a:pPr>
                      <a:r>
                        <a:rPr lang="en-US" sz="1800">
                          <a:solidFill>
                            <a:srgbClr val="3C67BF"/>
                          </a:solidFill>
                          <a:latin typeface="Tomorrow"/>
                          <a:ea typeface="Tomorrow"/>
                          <a:cs typeface="Tomorrow"/>
                          <a:sym typeface="Tomorrow"/>
                        </a:rPr>
                        <a:t>Se relaciona porque sus recomendaciones de calidad mejoran la completitud y consistencia de los requisitos.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FF620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620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620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620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685086">
                <a:tc>
                  <a:txBody>
                    <a:bodyPr/>
                    <a:lstStyle/>
                    <a:p>
                      <a:pPr algn="ctr">
                        <a:lnSpc>
                          <a:spcPts val="4479"/>
                        </a:lnSpc>
                        <a:defRPr/>
                      </a:pPr>
                      <a:r>
                        <a:rPr lang="en-US" sz="2400" b="1">
                          <a:solidFill>
                            <a:srgbClr val="3C67BF"/>
                          </a:solidFill>
                          <a:latin typeface="Tomorrow Bold"/>
                          <a:ea typeface="Tomorrow Bold"/>
                          <a:cs typeface="Tomorrow Bold"/>
                          <a:sym typeface="Tomorrow Bold"/>
                        </a:rPr>
                        <a:t>SWEBOK v4 (Áreas de RE)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FF620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620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620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620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4479"/>
                        </a:lnSpc>
                        <a:defRPr/>
                      </a:pPr>
                      <a:r>
                        <a:rPr lang="en-US" sz="1800">
                          <a:solidFill>
                            <a:srgbClr val="3C67BF"/>
                          </a:solidFill>
                          <a:latin typeface="Tomorrow"/>
                          <a:ea typeface="Tomorrow"/>
                          <a:cs typeface="Tomorrow"/>
                          <a:sym typeface="Tomorrow"/>
                        </a:rPr>
                        <a:t>Se relaciona porque sus funcionalidades cubren elicitación, análisis, especificación y gestión de requisitos.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FF620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620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620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620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685086">
                <a:tc>
                  <a:txBody>
                    <a:bodyPr/>
                    <a:lstStyle/>
                    <a:p>
                      <a:pPr algn="ctr">
                        <a:lnSpc>
                          <a:spcPts val="4479"/>
                        </a:lnSpc>
                        <a:defRPr/>
                      </a:pPr>
                      <a:r>
                        <a:rPr lang="en-US" sz="2400" b="1">
                          <a:solidFill>
                            <a:srgbClr val="3C67BF"/>
                          </a:solidFill>
                          <a:latin typeface="Tomorrow Bold"/>
                          <a:ea typeface="Tomorrow Bold"/>
                          <a:cs typeface="Tomorrow Bold"/>
                          <a:sym typeface="Tomorrow Bold"/>
                        </a:rPr>
                        <a:t>Framework de Pohl (Gestión)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FF620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620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620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620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4479"/>
                        </a:lnSpc>
                        <a:defRPr/>
                      </a:pPr>
                      <a:r>
                        <a:rPr lang="en-US" sz="1800">
                          <a:solidFill>
                            <a:srgbClr val="3C67BF"/>
                          </a:solidFill>
                          <a:latin typeface="Tomorrow"/>
                          <a:ea typeface="Tomorrow"/>
                          <a:cs typeface="Tomorrow"/>
                          <a:sym typeface="Tomorrow"/>
                        </a:rPr>
                        <a:t>Se relaciona porque apoya la negociación y el control de cambios mediante priorización y trazabilidad automática.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FF620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620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620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620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6" name="TextBox 6"/>
          <p:cNvSpPr txBox="1"/>
          <p:nvPr/>
        </p:nvSpPr>
        <p:spPr>
          <a:xfrm>
            <a:off x="506859" y="396613"/>
            <a:ext cx="17274282" cy="14070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353"/>
              </a:lnSpc>
            </a:pPr>
            <a:r>
              <a:rPr lang="en-US" sz="5756" spc="-374">
                <a:solidFill>
                  <a:srgbClr val="004AAD"/>
                </a:solidFill>
                <a:latin typeface="Tomorrow"/>
                <a:ea typeface="Tomorrow"/>
                <a:cs typeface="Tomorrow"/>
                <a:sym typeface="Tomorrow"/>
              </a:rPr>
              <a:t>Más conexiones con marcos de Ingeniería de Requisitos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480253" y="731986"/>
            <a:ext cx="17327495" cy="8823028"/>
            <a:chOff x="0" y="0"/>
            <a:chExt cx="4256676" cy="2167467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256676" cy="2167467"/>
            </a:xfrm>
            <a:custGeom>
              <a:avLst/>
              <a:gdLst/>
              <a:ahLst/>
              <a:cxnLst/>
              <a:rect l="l" t="t" r="r" b="b"/>
              <a:pathLst>
                <a:path w="4256676" h="2167467">
                  <a:moveTo>
                    <a:pt x="0" y="0"/>
                  </a:moveTo>
                  <a:lnTo>
                    <a:pt x="4256676" y="0"/>
                  </a:lnTo>
                  <a:lnTo>
                    <a:pt x="4256676" y="2167467"/>
                  </a:lnTo>
                  <a:lnTo>
                    <a:pt x="0" y="2167467"/>
                  </a:lnTo>
                  <a:close/>
                </a:path>
              </a:pathLst>
            </a:custGeom>
            <a:ln w="76200" cap="sq">
              <a:solidFill>
                <a:srgbClr val="FF6201"/>
              </a:solidFill>
              <a:prstDash val="solid"/>
              <a:miter/>
            </a:ln>
          </p:spPr>
          <p:txBody>
            <a:bodyPr/>
            <a:lstStyle/>
            <a:p>
              <a:endParaRPr lang="es-EC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57150"/>
              <a:ext cx="4256676" cy="222461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480253" y="731986"/>
            <a:ext cx="8561178" cy="8823028"/>
            <a:chOff x="0" y="0"/>
            <a:chExt cx="11414905" cy="11764037"/>
          </a:xfrm>
        </p:grpSpPr>
        <p:grpSp>
          <p:nvGrpSpPr>
            <p:cNvPr id="6" name="Group 6"/>
            <p:cNvGrpSpPr/>
            <p:nvPr/>
          </p:nvGrpSpPr>
          <p:grpSpPr>
            <a:xfrm>
              <a:off x="0" y="0"/>
              <a:ext cx="11409043" cy="11764037"/>
              <a:chOff x="0" y="0"/>
              <a:chExt cx="2102061" cy="2167467"/>
            </a:xfrm>
          </p:grpSpPr>
          <p:sp>
            <p:nvSpPr>
              <p:cNvPr id="7" name="Freeform 7"/>
              <p:cNvSpPr/>
              <p:nvPr/>
            </p:nvSpPr>
            <p:spPr>
              <a:xfrm>
                <a:off x="0" y="0"/>
                <a:ext cx="2102061" cy="2167467"/>
              </a:xfrm>
              <a:custGeom>
                <a:avLst/>
                <a:gdLst/>
                <a:ahLst/>
                <a:cxnLst/>
                <a:rect l="l" t="t" r="r" b="b"/>
                <a:pathLst>
                  <a:path w="2102061" h="2167467">
                    <a:moveTo>
                      <a:pt x="0" y="0"/>
                    </a:moveTo>
                    <a:lnTo>
                      <a:pt x="2102061" y="0"/>
                    </a:lnTo>
                    <a:lnTo>
                      <a:pt x="2102061" y="2167467"/>
                    </a:lnTo>
                    <a:lnTo>
                      <a:pt x="0" y="2167467"/>
                    </a:lnTo>
                    <a:close/>
                  </a:path>
                </a:pathLst>
              </a:custGeom>
              <a:ln w="76200" cap="sq">
                <a:solidFill>
                  <a:srgbClr val="FF6201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s-EC"/>
              </a:p>
            </p:txBody>
          </p:sp>
          <p:sp>
            <p:nvSpPr>
              <p:cNvPr id="8" name="TextBox 8"/>
              <p:cNvSpPr txBox="1"/>
              <p:nvPr/>
            </p:nvSpPr>
            <p:spPr>
              <a:xfrm>
                <a:off x="0" y="-66675"/>
                <a:ext cx="2102061" cy="2234142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359"/>
                  </a:lnSpc>
                </a:pPr>
                <a:endParaRPr/>
              </a:p>
            </p:txBody>
          </p:sp>
        </p:grpSp>
        <p:sp>
          <p:nvSpPr>
            <p:cNvPr id="9" name="Freeform 9"/>
            <p:cNvSpPr/>
            <p:nvPr/>
          </p:nvSpPr>
          <p:spPr>
            <a:xfrm>
              <a:off x="5843029" y="0"/>
              <a:ext cx="5571876" cy="5882018"/>
            </a:xfrm>
            <a:custGeom>
              <a:avLst/>
              <a:gdLst/>
              <a:ahLst/>
              <a:cxnLst/>
              <a:rect l="l" t="t" r="r" b="b"/>
              <a:pathLst>
                <a:path w="5571876" h="5882018">
                  <a:moveTo>
                    <a:pt x="0" y="0"/>
                  </a:moveTo>
                  <a:lnTo>
                    <a:pt x="5571876" y="0"/>
                  </a:lnTo>
                  <a:lnTo>
                    <a:pt x="5571876" y="5882018"/>
                  </a:lnTo>
                  <a:lnTo>
                    <a:pt x="0" y="588201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EC"/>
            </a:p>
          </p:txBody>
        </p:sp>
        <p:sp>
          <p:nvSpPr>
            <p:cNvPr id="10" name="Freeform 10"/>
            <p:cNvSpPr/>
            <p:nvPr/>
          </p:nvSpPr>
          <p:spPr>
            <a:xfrm flipH="1" flipV="1">
              <a:off x="0" y="5882018"/>
              <a:ext cx="5571876" cy="5882018"/>
            </a:xfrm>
            <a:custGeom>
              <a:avLst/>
              <a:gdLst/>
              <a:ahLst/>
              <a:cxnLst/>
              <a:rect l="l" t="t" r="r" b="b"/>
              <a:pathLst>
                <a:path w="5571876" h="5882018">
                  <a:moveTo>
                    <a:pt x="5571876" y="5882019"/>
                  </a:moveTo>
                  <a:lnTo>
                    <a:pt x="0" y="5882019"/>
                  </a:lnTo>
                  <a:lnTo>
                    <a:pt x="0" y="0"/>
                  </a:lnTo>
                  <a:lnTo>
                    <a:pt x="5571876" y="0"/>
                  </a:lnTo>
                  <a:lnTo>
                    <a:pt x="5571876" y="5882019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EC"/>
            </a:p>
          </p:txBody>
        </p:sp>
      </p:grpSp>
      <p:sp>
        <p:nvSpPr>
          <p:cNvPr id="11" name="Freeform 11"/>
          <p:cNvSpPr/>
          <p:nvPr/>
        </p:nvSpPr>
        <p:spPr>
          <a:xfrm>
            <a:off x="1710329" y="1867775"/>
            <a:ext cx="5959648" cy="6356958"/>
          </a:xfrm>
          <a:custGeom>
            <a:avLst/>
            <a:gdLst/>
            <a:ahLst/>
            <a:cxnLst/>
            <a:rect l="l" t="t" r="r" b="b"/>
            <a:pathLst>
              <a:path w="5959648" h="6356958">
                <a:moveTo>
                  <a:pt x="0" y="0"/>
                </a:moveTo>
                <a:lnTo>
                  <a:pt x="5959648" y="0"/>
                </a:lnTo>
                <a:lnTo>
                  <a:pt x="5959648" y="6356959"/>
                </a:lnTo>
                <a:lnTo>
                  <a:pt x="0" y="635695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s-EC"/>
          </a:p>
        </p:txBody>
      </p:sp>
      <p:sp>
        <p:nvSpPr>
          <p:cNvPr id="12" name="TextBox 12"/>
          <p:cNvSpPr txBox="1"/>
          <p:nvPr/>
        </p:nvSpPr>
        <p:spPr>
          <a:xfrm>
            <a:off x="9555274" y="1651702"/>
            <a:ext cx="7899715" cy="10851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516"/>
              </a:lnSpc>
            </a:pPr>
            <a:r>
              <a:rPr lang="en-US" sz="7217" spc="-469">
                <a:solidFill>
                  <a:srgbClr val="004AAD"/>
                </a:solidFill>
                <a:latin typeface="Tomorrow"/>
                <a:ea typeface="Tomorrow"/>
                <a:cs typeface="Tomorrow"/>
                <a:sym typeface="Tomorrow"/>
              </a:rPr>
              <a:t>Limitaciones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9364853" y="3570475"/>
            <a:ext cx="7894447" cy="44843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47697" lvl="1" indent="-323848" algn="l">
              <a:lnSpc>
                <a:spcPts val="4439"/>
              </a:lnSpc>
              <a:buFont typeface="Arial"/>
              <a:buChar char="•"/>
            </a:pPr>
            <a:r>
              <a:rPr lang="en-US" sz="2999">
                <a:solidFill>
                  <a:srgbClr val="004AAD"/>
                </a:solidFill>
                <a:latin typeface="Tomorrow"/>
                <a:ea typeface="Tomorrow"/>
                <a:cs typeface="Tomorrow"/>
                <a:sym typeface="Tomorrow"/>
              </a:rPr>
              <a:t>Dependencia de datos históricos para generar recomendaciones.</a:t>
            </a:r>
          </a:p>
          <a:p>
            <a:pPr marL="647697" lvl="1" indent="-323848" algn="l">
              <a:lnSpc>
                <a:spcPts val="4439"/>
              </a:lnSpc>
              <a:buFont typeface="Arial"/>
              <a:buChar char="•"/>
            </a:pPr>
            <a:r>
              <a:rPr lang="en-US" sz="2999">
                <a:solidFill>
                  <a:srgbClr val="004AAD"/>
                </a:solidFill>
                <a:latin typeface="Tomorrow"/>
                <a:ea typeface="Tomorrow"/>
                <a:cs typeface="Tomorrow"/>
                <a:sym typeface="Tomorrow"/>
              </a:rPr>
              <a:t>Sensibilidad a datos incompletos, inconsistentes o con ruido.</a:t>
            </a:r>
          </a:p>
          <a:p>
            <a:pPr marL="647697" lvl="1" indent="-323848" algn="l">
              <a:lnSpc>
                <a:spcPts val="4439"/>
              </a:lnSpc>
              <a:buFont typeface="Arial"/>
              <a:buChar char="•"/>
            </a:pPr>
            <a:r>
              <a:rPr lang="en-US" sz="2999">
                <a:solidFill>
                  <a:srgbClr val="004AAD"/>
                </a:solidFill>
                <a:latin typeface="Tomorrow"/>
                <a:ea typeface="Tomorrow"/>
                <a:cs typeface="Tomorrow"/>
                <a:sym typeface="Tomorrow"/>
              </a:rPr>
              <a:t>Menor precisión en proyectos con poca información previa.</a:t>
            </a:r>
          </a:p>
          <a:p>
            <a:pPr marL="647697" lvl="1" indent="-323848" algn="l">
              <a:lnSpc>
                <a:spcPts val="4439"/>
              </a:lnSpc>
              <a:buFont typeface="Arial"/>
              <a:buChar char="•"/>
            </a:pPr>
            <a:r>
              <a:rPr lang="en-US" sz="2999">
                <a:solidFill>
                  <a:srgbClr val="004AAD"/>
                </a:solidFill>
                <a:latin typeface="Tomorrow"/>
                <a:ea typeface="Tomorrow"/>
                <a:cs typeface="Tomorrow"/>
                <a:sym typeface="Tomorrow"/>
              </a:rPr>
              <a:t>Riesgo de resultados sesgados por la calidad de los datos disponibles.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480253" y="731986"/>
            <a:ext cx="17327495" cy="8823028"/>
            <a:chOff x="0" y="0"/>
            <a:chExt cx="4256676" cy="2167467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256676" cy="2167467"/>
            </a:xfrm>
            <a:custGeom>
              <a:avLst/>
              <a:gdLst/>
              <a:ahLst/>
              <a:cxnLst/>
              <a:rect l="l" t="t" r="r" b="b"/>
              <a:pathLst>
                <a:path w="4256676" h="2167467">
                  <a:moveTo>
                    <a:pt x="0" y="0"/>
                  </a:moveTo>
                  <a:lnTo>
                    <a:pt x="4256676" y="0"/>
                  </a:lnTo>
                  <a:lnTo>
                    <a:pt x="4256676" y="2167467"/>
                  </a:lnTo>
                  <a:lnTo>
                    <a:pt x="0" y="2167467"/>
                  </a:lnTo>
                  <a:close/>
                </a:path>
              </a:pathLst>
            </a:custGeom>
            <a:ln w="76200" cap="sq">
              <a:solidFill>
                <a:srgbClr val="FF6201"/>
              </a:solidFill>
              <a:prstDash val="solid"/>
              <a:miter/>
            </a:ln>
          </p:spPr>
          <p:txBody>
            <a:bodyPr/>
            <a:lstStyle/>
            <a:p>
              <a:endParaRPr lang="es-EC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57150"/>
              <a:ext cx="4256676" cy="222461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9144000" y="731986"/>
            <a:ext cx="8561178" cy="8823028"/>
            <a:chOff x="0" y="0"/>
            <a:chExt cx="11414905" cy="11764037"/>
          </a:xfrm>
        </p:grpSpPr>
        <p:grpSp>
          <p:nvGrpSpPr>
            <p:cNvPr id="6" name="Group 6"/>
            <p:cNvGrpSpPr/>
            <p:nvPr/>
          </p:nvGrpSpPr>
          <p:grpSpPr>
            <a:xfrm>
              <a:off x="0" y="0"/>
              <a:ext cx="11409043" cy="11764037"/>
              <a:chOff x="0" y="0"/>
              <a:chExt cx="2102061" cy="2167467"/>
            </a:xfrm>
          </p:grpSpPr>
          <p:sp>
            <p:nvSpPr>
              <p:cNvPr id="7" name="Freeform 7"/>
              <p:cNvSpPr/>
              <p:nvPr/>
            </p:nvSpPr>
            <p:spPr>
              <a:xfrm>
                <a:off x="0" y="0"/>
                <a:ext cx="2102061" cy="2167467"/>
              </a:xfrm>
              <a:custGeom>
                <a:avLst/>
                <a:gdLst/>
                <a:ahLst/>
                <a:cxnLst/>
                <a:rect l="l" t="t" r="r" b="b"/>
                <a:pathLst>
                  <a:path w="2102061" h="2167467">
                    <a:moveTo>
                      <a:pt x="0" y="0"/>
                    </a:moveTo>
                    <a:lnTo>
                      <a:pt x="2102061" y="0"/>
                    </a:lnTo>
                    <a:lnTo>
                      <a:pt x="2102061" y="2167467"/>
                    </a:lnTo>
                    <a:lnTo>
                      <a:pt x="0" y="2167467"/>
                    </a:lnTo>
                    <a:close/>
                  </a:path>
                </a:pathLst>
              </a:custGeom>
              <a:ln w="76200" cap="sq">
                <a:solidFill>
                  <a:srgbClr val="FF6201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s-EC"/>
              </a:p>
            </p:txBody>
          </p:sp>
          <p:sp>
            <p:nvSpPr>
              <p:cNvPr id="8" name="TextBox 8"/>
              <p:cNvSpPr txBox="1"/>
              <p:nvPr/>
            </p:nvSpPr>
            <p:spPr>
              <a:xfrm>
                <a:off x="0" y="-66675"/>
                <a:ext cx="2102061" cy="2234142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359"/>
                  </a:lnSpc>
                </a:pPr>
                <a:endParaRPr/>
              </a:p>
            </p:txBody>
          </p:sp>
        </p:grpSp>
        <p:sp>
          <p:nvSpPr>
            <p:cNvPr id="9" name="Freeform 9"/>
            <p:cNvSpPr/>
            <p:nvPr/>
          </p:nvSpPr>
          <p:spPr>
            <a:xfrm>
              <a:off x="5843029" y="0"/>
              <a:ext cx="5571876" cy="5882018"/>
            </a:xfrm>
            <a:custGeom>
              <a:avLst/>
              <a:gdLst/>
              <a:ahLst/>
              <a:cxnLst/>
              <a:rect l="l" t="t" r="r" b="b"/>
              <a:pathLst>
                <a:path w="5571876" h="5882018">
                  <a:moveTo>
                    <a:pt x="0" y="0"/>
                  </a:moveTo>
                  <a:lnTo>
                    <a:pt x="5571876" y="0"/>
                  </a:lnTo>
                  <a:lnTo>
                    <a:pt x="5571876" y="5882018"/>
                  </a:lnTo>
                  <a:lnTo>
                    <a:pt x="0" y="588201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EC"/>
            </a:p>
          </p:txBody>
        </p:sp>
        <p:sp>
          <p:nvSpPr>
            <p:cNvPr id="10" name="Freeform 10"/>
            <p:cNvSpPr/>
            <p:nvPr/>
          </p:nvSpPr>
          <p:spPr>
            <a:xfrm flipH="1" flipV="1">
              <a:off x="0" y="5882018"/>
              <a:ext cx="5571876" cy="5882018"/>
            </a:xfrm>
            <a:custGeom>
              <a:avLst/>
              <a:gdLst/>
              <a:ahLst/>
              <a:cxnLst/>
              <a:rect l="l" t="t" r="r" b="b"/>
              <a:pathLst>
                <a:path w="5571876" h="5882018">
                  <a:moveTo>
                    <a:pt x="5571876" y="5882019"/>
                  </a:moveTo>
                  <a:lnTo>
                    <a:pt x="0" y="5882019"/>
                  </a:lnTo>
                  <a:lnTo>
                    <a:pt x="0" y="0"/>
                  </a:lnTo>
                  <a:lnTo>
                    <a:pt x="5571876" y="0"/>
                  </a:lnTo>
                  <a:lnTo>
                    <a:pt x="5571876" y="5882019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EC"/>
            </a:p>
          </p:txBody>
        </p:sp>
      </p:grpSp>
      <p:sp>
        <p:nvSpPr>
          <p:cNvPr id="11" name="Freeform 11"/>
          <p:cNvSpPr/>
          <p:nvPr/>
        </p:nvSpPr>
        <p:spPr>
          <a:xfrm>
            <a:off x="11385511" y="2928063"/>
            <a:ext cx="4637582" cy="4114800"/>
          </a:xfrm>
          <a:custGeom>
            <a:avLst/>
            <a:gdLst/>
            <a:ahLst/>
            <a:cxnLst/>
            <a:rect l="l" t="t" r="r" b="b"/>
            <a:pathLst>
              <a:path w="4637582" h="4114800">
                <a:moveTo>
                  <a:pt x="0" y="0"/>
                </a:moveTo>
                <a:lnTo>
                  <a:pt x="4637582" y="0"/>
                </a:lnTo>
                <a:lnTo>
                  <a:pt x="4637582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EC"/>
          </a:p>
        </p:txBody>
      </p:sp>
      <p:sp>
        <p:nvSpPr>
          <p:cNvPr id="12" name="TextBox 12"/>
          <p:cNvSpPr txBox="1"/>
          <p:nvPr/>
        </p:nvSpPr>
        <p:spPr>
          <a:xfrm>
            <a:off x="1028700" y="1535008"/>
            <a:ext cx="7899715" cy="10851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516"/>
              </a:lnSpc>
            </a:pPr>
            <a:r>
              <a:rPr lang="en-US" sz="7217" spc="-469">
                <a:solidFill>
                  <a:srgbClr val="004AAD"/>
                </a:solidFill>
                <a:latin typeface="Tomorrow"/>
                <a:ea typeface="Tomorrow"/>
                <a:cs typeface="Tomorrow"/>
                <a:sym typeface="Tomorrow"/>
              </a:rPr>
              <a:t>Limitaciones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826692" y="3589924"/>
            <a:ext cx="7894447" cy="50463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47697" lvl="1" indent="-323848" algn="l">
              <a:lnSpc>
                <a:spcPts val="4439"/>
              </a:lnSpc>
              <a:buFont typeface="Arial"/>
              <a:buChar char="•"/>
            </a:pPr>
            <a:r>
              <a:rPr lang="en-US" sz="2999">
                <a:solidFill>
                  <a:srgbClr val="004AAD"/>
                </a:solidFill>
                <a:latin typeface="Tomorrow"/>
                <a:ea typeface="Tomorrow"/>
                <a:cs typeface="Tomorrow"/>
                <a:sym typeface="Tomorrow"/>
              </a:rPr>
              <a:t>Falta de estándares para evaluar herramientas de Ingeniería de Requisitos.</a:t>
            </a:r>
          </a:p>
          <a:p>
            <a:pPr marL="647697" lvl="1" indent="-323848" algn="l">
              <a:lnSpc>
                <a:spcPts val="4439"/>
              </a:lnSpc>
              <a:buFont typeface="Arial"/>
              <a:buChar char="•"/>
            </a:pPr>
            <a:r>
              <a:rPr lang="en-US" sz="2999">
                <a:solidFill>
                  <a:srgbClr val="004AAD"/>
                </a:solidFill>
                <a:latin typeface="Tomorrow"/>
                <a:ea typeface="Tomorrow"/>
                <a:cs typeface="Tomorrow"/>
                <a:sym typeface="Tomorrow"/>
              </a:rPr>
              <a:t>Madurez limitada de los sistemas de recomendación.</a:t>
            </a:r>
          </a:p>
          <a:p>
            <a:pPr marL="647697" lvl="1" indent="-323848" algn="l">
              <a:lnSpc>
                <a:spcPts val="4439"/>
              </a:lnSpc>
              <a:buFont typeface="Arial"/>
              <a:buChar char="•"/>
            </a:pPr>
            <a:r>
              <a:rPr lang="en-US" sz="2999">
                <a:solidFill>
                  <a:srgbClr val="004AAD"/>
                </a:solidFill>
                <a:latin typeface="Tomorrow"/>
                <a:ea typeface="Tomorrow"/>
                <a:cs typeface="Tomorrow"/>
                <a:sym typeface="Tomorrow"/>
              </a:rPr>
              <a:t>Dificultades de integración con algunos procesos de desarrollo.</a:t>
            </a:r>
          </a:p>
          <a:p>
            <a:pPr marL="647697" lvl="1" indent="-323848" algn="l">
              <a:lnSpc>
                <a:spcPts val="4439"/>
              </a:lnSpc>
              <a:buFont typeface="Arial"/>
              <a:buChar char="•"/>
            </a:pPr>
            <a:r>
              <a:rPr lang="en-US" sz="2999">
                <a:solidFill>
                  <a:srgbClr val="004AAD"/>
                </a:solidFill>
                <a:latin typeface="Tomorrow"/>
                <a:ea typeface="Tomorrow"/>
                <a:cs typeface="Tomorrow"/>
                <a:sym typeface="Tomorrow"/>
              </a:rPr>
              <a:t>Baja adopción industrial en comparación con su uso académico.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480253" y="731986"/>
            <a:ext cx="17327495" cy="8823028"/>
            <a:chOff x="0" y="0"/>
            <a:chExt cx="4256676" cy="2167467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256676" cy="2167467"/>
            </a:xfrm>
            <a:custGeom>
              <a:avLst/>
              <a:gdLst/>
              <a:ahLst/>
              <a:cxnLst/>
              <a:rect l="l" t="t" r="r" b="b"/>
              <a:pathLst>
                <a:path w="4256676" h="2167467">
                  <a:moveTo>
                    <a:pt x="0" y="0"/>
                  </a:moveTo>
                  <a:lnTo>
                    <a:pt x="4256676" y="0"/>
                  </a:lnTo>
                  <a:lnTo>
                    <a:pt x="4256676" y="2167467"/>
                  </a:lnTo>
                  <a:lnTo>
                    <a:pt x="0" y="2167467"/>
                  </a:lnTo>
                  <a:close/>
                </a:path>
              </a:pathLst>
            </a:custGeom>
            <a:ln w="76200" cap="sq">
              <a:solidFill>
                <a:srgbClr val="FF6201"/>
              </a:solidFill>
              <a:prstDash val="solid"/>
              <a:miter/>
            </a:ln>
          </p:spPr>
          <p:txBody>
            <a:bodyPr/>
            <a:lstStyle/>
            <a:p>
              <a:endParaRPr lang="es-EC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57150"/>
              <a:ext cx="4256676" cy="222461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480253" y="731986"/>
            <a:ext cx="8561178" cy="8823028"/>
            <a:chOff x="0" y="0"/>
            <a:chExt cx="11414905" cy="11764037"/>
          </a:xfrm>
        </p:grpSpPr>
        <p:grpSp>
          <p:nvGrpSpPr>
            <p:cNvPr id="6" name="Group 6"/>
            <p:cNvGrpSpPr/>
            <p:nvPr/>
          </p:nvGrpSpPr>
          <p:grpSpPr>
            <a:xfrm>
              <a:off x="0" y="0"/>
              <a:ext cx="11409043" cy="11764037"/>
              <a:chOff x="0" y="0"/>
              <a:chExt cx="2102061" cy="2167467"/>
            </a:xfrm>
          </p:grpSpPr>
          <p:sp>
            <p:nvSpPr>
              <p:cNvPr id="7" name="Freeform 7"/>
              <p:cNvSpPr/>
              <p:nvPr/>
            </p:nvSpPr>
            <p:spPr>
              <a:xfrm>
                <a:off x="0" y="0"/>
                <a:ext cx="2102061" cy="2167467"/>
              </a:xfrm>
              <a:custGeom>
                <a:avLst/>
                <a:gdLst/>
                <a:ahLst/>
                <a:cxnLst/>
                <a:rect l="l" t="t" r="r" b="b"/>
                <a:pathLst>
                  <a:path w="2102061" h="2167467">
                    <a:moveTo>
                      <a:pt x="0" y="0"/>
                    </a:moveTo>
                    <a:lnTo>
                      <a:pt x="2102061" y="0"/>
                    </a:lnTo>
                    <a:lnTo>
                      <a:pt x="2102061" y="2167467"/>
                    </a:lnTo>
                    <a:lnTo>
                      <a:pt x="0" y="2167467"/>
                    </a:lnTo>
                    <a:close/>
                  </a:path>
                </a:pathLst>
              </a:custGeom>
              <a:ln w="76200" cap="sq">
                <a:solidFill>
                  <a:srgbClr val="FF6201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s-EC"/>
              </a:p>
            </p:txBody>
          </p:sp>
          <p:sp>
            <p:nvSpPr>
              <p:cNvPr id="8" name="TextBox 8"/>
              <p:cNvSpPr txBox="1"/>
              <p:nvPr/>
            </p:nvSpPr>
            <p:spPr>
              <a:xfrm>
                <a:off x="0" y="-66675"/>
                <a:ext cx="2102061" cy="2234142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359"/>
                  </a:lnSpc>
                </a:pPr>
                <a:endParaRPr/>
              </a:p>
            </p:txBody>
          </p:sp>
        </p:grpSp>
        <p:sp>
          <p:nvSpPr>
            <p:cNvPr id="9" name="Freeform 9"/>
            <p:cNvSpPr/>
            <p:nvPr/>
          </p:nvSpPr>
          <p:spPr>
            <a:xfrm>
              <a:off x="5843029" y="0"/>
              <a:ext cx="5571876" cy="5882018"/>
            </a:xfrm>
            <a:custGeom>
              <a:avLst/>
              <a:gdLst/>
              <a:ahLst/>
              <a:cxnLst/>
              <a:rect l="l" t="t" r="r" b="b"/>
              <a:pathLst>
                <a:path w="5571876" h="5882018">
                  <a:moveTo>
                    <a:pt x="0" y="0"/>
                  </a:moveTo>
                  <a:lnTo>
                    <a:pt x="5571876" y="0"/>
                  </a:lnTo>
                  <a:lnTo>
                    <a:pt x="5571876" y="5882018"/>
                  </a:lnTo>
                  <a:lnTo>
                    <a:pt x="0" y="588201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EC"/>
            </a:p>
          </p:txBody>
        </p:sp>
        <p:sp>
          <p:nvSpPr>
            <p:cNvPr id="10" name="Freeform 10"/>
            <p:cNvSpPr/>
            <p:nvPr/>
          </p:nvSpPr>
          <p:spPr>
            <a:xfrm flipH="1" flipV="1">
              <a:off x="0" y="5882018"/>
              <a:ext cx="5571876" cy="5882018"/>
            </a:xfrm>
            <a:custGeom>
              <a:avLst/>
              <a:gdLst/>
              <a:ahLst/>
              <a:cxnLst/>
              <a:rect l="l" t="t" r="r" b="b"/>
              <a:pathLst>
                <a:path w="5571876" h="5882018">
                  <a:moveTo>
                    <a:pt x="5571876" y="5882019"/>
                  </a:moveTo>
                  <a:lnTo>
                    <a:pt x="0" y="5882019"/>
                  </a:lnTo>
                  <a:lnTo>
                    <a:pt x="0" y="0"/>
                  </a:lnTo>
                  <a:lnTo>
                    <a:pt x="5571876" y="0"/>
                  </a:lnTo>
                  <a:lnTo>
                    <a:pt x="5571876" y="5882019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EC"/>
            </a:p>
          </p:txBody>
        </p:sp>
      </p:grpSp>
      <p:sp>
        <p:nvSpPr>
          <p:cNvPr id="11" name="TextBox 11"/>
          <p:cNvSpPr txBox="1"/>
          <p:nvPr/>
        </p:nvSpPr>
        <p:spPr>
          <a:xfrm>
            <a:off x="9302435" y="1651702"/>
            <a:ext cx="7899715" cy="21614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516"/>
              </a:lnSpc>
            </a:pPr>
            <a:r>
              <a:rPr lang="en-US" sz="7217" spc="-469">
                <a:solidFill>
                  <a:srgbClr val="004AAD"/>
                </a:solidFill>
                <a:latin typeface="Tomorrow"/>
                <a:ea typeface="Tomorrow"/>
                <a:cs typeface="Tomorrow"/>
                <a:sym typeface="Tomorrow"/>
              </a:rPr>
              <a:t>¿Por qué OpenReq sería útil para el PFC?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9144000" y="4111507"/>
            <a:ext cx="8980297" cy="35413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77000" lvl="1" indent="-288500" algn="just">
              <a:lnSpc>
                <a:spcPts val="5772"/>
              </a:lnSpc>
              <a:buFont typeface="Arial"/>
              <a:buChar char="•"/>
            </a:pPr>
            <a:r>
              <a:rPr lang="en-US" sz="2672">
                <a:solidFill>
                  <a:srgbClr val="004AAD"/>
                </a:solidFill>
                <a:latin typeface="Tomorrow"/>
                <a:ea typeface="Tomorrow"/>
                <a:cs typeface="Tomorrow"/>
                <a:sym typeface="Tomorrow"/>
              </a:rPr>
              <a:t>Análisis de retroalimentación de usuarios.</a:t>
            </a:r>
          </a:p>
          <a:p>
            <a:pPr marL="577000" lvl="1" indent="-288500" algn="just">
              <a:lnSpc>
                <a:spcPts val="5772"/>
              </a:lnSpc>
              <a:buFont typeface="Arial"/>
              <a:buChar char="•"/>
            </a:pPr>
            <a:r>
              <a:rPr lang="en-US" sz="2672">
                <a:solidFill>
                  <a:srgbClr val="004AAD"/>
                </a:solidFill>
                <a:latin typeface="Tomorrow"/>
                <a:ea typeface="Tomorrow"/>
                <a:cs typeface="Tomorrow"/>
                <a:sym typeface="Tomorrow"/>
              </a:rPr>
              <a:t>Priorización de funcionalidades.</a:t>
            </a:r>
          </a:p>
          <a:p>
            <a:pPr marL="577000" lvl="1" indent="-288500" algn="just">
              <a:lnSpc>
                <a:spcPts val="5772"/>
              </a:lnSpc>
              <a:buFont typeface="Arial"/>
              <a:buChar char="•"/>
            </a:pPr>
            <a:r>
              <a:rPr lang="en-US" sz="2672">
                <a:solidFill>
                  <a:srgbClr val="004AAD"/>
                </a:solidFill>
                <a:latin typeface="Tomorrow"/>
                <a:ea typeface="Tomorrow"/>
                <a:cs typeface="Tomorrow"/>
                <a:sym typeface="Tomorrow"/>
              </a:rPr>
              <a:t>Identificación de dependencias entre requisitos.</a:t>
            </a:r>
          </a:p>
          <a:p>
            <a:pPr marL="577000" lvl="1" indent="-288500" algn="just">
              <a:lnSpc>
                <a:spcPts val="5772"/>
              </a:lnSpc>
              <a:buFont typeface="Arial"/>
              <a:buChar char="•"/>
            </a:pPr>
            <a:r>
              <a:rPr lang="en-US" sz="2672">
                <a:solidFill>
                  <a:srgbClr val="004AAD"/>
                </a:solidFill>
                <a:latin typeface="Tomorrow"/>
                <a:ea typeface="Tomorrow"/>
                <a:cs typeface="Tomorrow"/>
                <a:sym typeface="Tomorrow"/>
              </a:rPr>
              <a:t>Apoyo a la toma de decisiones.</a:t>
            </a:r>
          </a:p>
          <a:p>
            <a:pPr marL="577000" lvl="1" indent="-288500" algn="just">
              <a:lnSpc>
                <a:spcPts val="5772"/>
              </a:lnSpc>
              <a:buFont typeface="Arial"/>
              <a:buChar char="•"/>
            </a:pPr>
            <a:r>
              <a:rPr lang="en-US" sz="2672">
                <a:solidFill>
                  <a:srgbClr val="004AAD"/>
                </a:solidFill>
                <a:latin typeface="Tomorrow"/>
                <a:ea typeface="Tomorrow"/>
                <a:cs typeface="Tomorrow"/>
                <a:sym typeface="Tomorrow"/>
              </a:rPr>
              <a:t>Gestión estructurada de requisitos.</a:t>
            </a:r>
          </a:p>
        </p:txBody>
      </p:sp>
      <p:sp>
        <p:nvSpPr>
          <p:cNvPr id="13" name="Freeform 13"/>
          <p:cNvSpPr/>
          <p:nvPr/>
        </p:nvSpPr>
        <p:spPr>
          <a:xfrm>
            <a:off x="2317181" y="2088924"/>
            <a:ext cx="4887322" cy="6109153"/>
          </a:xfrm>
          <a:custGeom>
            <a:avLst/>
            <a:gdLst/>
            <a:ahLst/>
            <a:cxnLst/>
            <a:rect l="l" t="t" r="r" b="b"/>
            <a:pathLst>
              <a:path w="4887322" h="6109153">
                <a:moveTo>
                  <a:pt x="0" y="0"/>
                </a:moveTo>
                <a:lnTo>
                  <a:pt x="4887322" y="0"/>
                </a:lnTo>
                <a:lnTo>
                  <a:pt x="4887322" y="6109152"/>
                </a:lnTo>
                <a:lnTo>
                  <a:pt x="0" y="610915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s-EC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458176" y="720745"/>
            <a:ext cx="17371649" cy="8845511"/>
            <a:chOff x="0" y="0"/>
            <a:chExt cx="4256676" cy="2167467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256676" cy="2167467"/>
            </a:xfrm>
            <a:custGeom>
              <a:avLst/>
              <a:gdLst/>
              <a:ahLst/>
              <a:cxnLst/>
              <a:rect l="l" t="t" r="r" b="b"/>
              <a:pathLst>
                <a:path w="4256676" h="2167467">
                  <a:moveTo>
                    <a:pt x="0" y="0"/>
                  </a:moveTo>
                  <a:lnTo>
                    <a:pt x="4256676" y="0"/>
                  </a:lnTo>
                  <a:lnTo>
                    <a:pt x="4256676" y="2167467"/>
                  </a:lnTo>
                  <a:lnTo>
                    <a:pt x="0" y="2167467"/>
                  </a:lnTo>
                  <a:close/>
                </a:path>
              </a:pathLst>
            </a:custGeom>
            <a:ln w="76200" cap="sq">
              <a:solidFill>
                <a:srgbClr val="01BDBB"/>
              </a:solidFill>
              <a:prstDash val="solid"/>
              <a:miter/>
            </a:ln>
          </p:spPr>
          <p:txBody>
            <a:bodyPr/>
            <a:lstStyle/>
            <a:p>
              <a:endParaRPr lang="es-EC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57150"/>
              <a:ext cx="4256676" cy="222461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0531421" y="3778609"/>
            <a:ext cx="7298403" cy="5787646"/>
            <a:chOff x="0" y="0"/>
            <a:chExt cx="1788370" cy="141818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788370" cy="1418180"/>
            </a:xfrm>
            <a:custGeom>
              <a:avLst/>
              <a:gdLst/>
              <a:ahLst/>
              <a:cxnLst/>
              <a:rect l="l" t="t" r="r" b="b"/>
              <a:pathLst>
                <a:path w="1788370" h="1418180">
                  <a:moveTo>
                    <a:pt x="0" y="0"/>
                  </a:moveTo>
                  <a:lnTo>
                    <a:pt x="1788370" y="0"/>
                  </a:lnTo>
                  <a:lnTo>
                    <a:pt x="1788370" y="1418180"/>
                  </a:lnTo>
                  <a:lnTo>
                    <a:pt x="0" y="1418180"/>
                  </a:lnTo>
                  <a:close/>
                </a:path>
              </a:pathLst>
            </a:custGeom>
            <a:ln w="76200" cap="sq">
              <a:solidFill>
                <a:srgbClr val="01BDBB"/>
              </a:solidFill>
              <a:prstDash val="solid"/>
              <a:miter/>
            </a:ln>
          </p:spPr>
          <p:txBody>
            <a:bodyPr/>
            <a:lstStyle/>
            <a:p>
              <a:endParaRPr lang="es-EC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57150"/>
              <a:ext cx="1788370" cy="147533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/>
            </a:p>
          </p:txBody>
        </p:sp>
      </p:grpSp>
      <p:sp>
        <p:nvSpPr>
          <p:cNvPr id="8" name="Freeform 8"/>
          <p:cNvSpPr/>
          <p:nvPr/>
        </p:nvSpPr>
        <p:spPr>
          <a:xfrm>
            <a:off x="13640269" y="3778609"/>
            <a:ext cx="4189555" cy="4422755"/>
          </a:xfrm>
          <a:custGeom>
            <a:avLst/>
            <a:gdLst/>
            <a:ahLst/>
            <a:cxnLst/>
            <a:rect l="l" t="t" r="r" b="b"/>
            <a:pathLst>
              <a:path w="4189555" h="4422755">
                <a:moveTo>
                  <a:pt x="0" y="0"/>
                </a:moveTo>
                <a:lnTo>
                  <a:pt x="4189555" y="0"/>
                </a:lnTo>
                <a:lnTo>
                  <a:pt x="4189555" y="4422756"/>
                </a:lnTo>
                <a:lnTo>
                  <a:pt x="0" y="442275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EC"/>
          </a:p>
        </p:txBody>
      </p:sp>
      <p:sp>
        <p:nvSpPr>
          <p:cNvPr id="9" name="Freeform 9"/>
          <p:cNvSpPr/>
          <p:nvPr/>
        </p:nvSpPr>
        <p:spPr>
          <a:xfrm flipH="1" flipV="1">
            <a:off x="10531421" y="5143500"/>
            <a:ext cx="4189555" cy="4422755"/>
          </a:xfrm>
          <a:custGeom>
            <a:avLst/>
            <a:gdLst/>
            <a:ahLst/>
            <a:cxnLst/>
            <a:rect l="l" t="t" r="r" b="b"/>
            <a:pathLst>
              <a:path w="4189555" h="4422755">
                <a:moveTo>
                  <a:pt x="4189556" y="4422755"/>
                </a:moveTo>
                <a:lnTo>
                  <a:pt x="0" y="4422755"/>
                </a:lnTo>
                <a:lnTo>
                  <a:pt x="0" y="0"/>
                </a:lnTo>
                <a:lnTo>
                  <a:pt x="4189556" y="0"/>
                </a:lnTo>
                <a:lnTo>
                  <a:pt x="4189556" y="4422755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EC"/>
          </a:p>
        </p:txBody>
      </p:sp>
      <p:sp>
        <p:nvSpPr>
          <p:cNvPr id="10" name="AutoShape 10"/>
          <p:cNvSpPr/>
          <p:nvPr/>
        </p:nvSpPr>
        <p:spPr>
          <a:xfrm>
            <a:off x="458176" y="3801810"/>
            <a:ext cx="12118581" cy="0"/>
          </a:xfrm>
          <a:prstGeom prst="line">
            <a:avLst/>
          </a:prstGeom>
          <a:ln w="85725" cap="flat">
            <a:solidFill>
              <a:srgbClr val="01BDBB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s-EC"/>
          </a:p>
        </p:txBody>
      </p:sp>
      <p:sp>
        <p:nvSpPr>
          <p:cNvPr id="11" name="Freeform 11"/>
          <p:cNvSpPr/>
          <p:nvPr/>
        </p:nvSpPr>
        <p:spPr>
          <a:xfrm>
            <a:off x="12976529" y="5510915"/>
            <a:ext cx="3931276" cy="3872307"/>
          </a:xfrm>
          <a:custGeom>
            <a:avLst/>
            <a:gdLst/>
            <a:ahLst/>
            <a:cxnLst/>
            <a:rect l="l" t="t" r="r" b="b"/>
            <a:pathLst>
              <a:path w="3931276" h="3872307">
                <a:moveTo>
                  <a:pt x="0" y="0"/>
                </a:moveTo>
                <a:lnTo>
                  <a:pt x="3931277" y="0"/>
                </a:lnTo>
                <a:lnTo>
                  <a:pt x="3931277" y="3872307"/>
                </a:lnTo>
                <a:lnTo>
                  <a:pt x="0" y="387230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EC"/>
          </a:p>
        </p:txBody>
      </p:sp>
      <p:sp>
        <p:nvSpPr>
          <p:cNvPr id="12" name="Freeform 12"/>
          <p:cNvSpPr/>
          <p:nvPr/>
        </p:nvSpPr>
        <p:spPr>
          <a:xfrm>
            <a:off x="10889193" y="4273298"/>
            <a:ext cx="3474013" cy="1237617"/>
          </a:xfrm>
          <a:custGeom>
            <a:avLst/>
            <a:gdLst/>
            <a:ahLst/>
            <a:cxnLst/>
            <a:rect l="l" t="t" r="r" b="b"/>
            <a:pathLst>
              <a:path w="3474013" h="1237617">
                <a:moveTo>
                  <a:pt x="0" y="0"/>
                </a:moveTo>
                <a:lnTo>
                  <a:pt x="3474013" y="0"/>
                </a:lnTo>
                <a:lnTo>
                  <a:pt x="3474013" y="1237617"/>
                </a:lnTo>
                <a:lnTo>
                  <a:pt x="0" y="123761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s-EC"/>
          </a:p>
        </p:txBody>
      </p:sp>
      <p:sp>
        <p:nvSpPr>
          <p:cNvPr id="13" name="TextBox 13"/>
          <p:cNvSpPr txBox="1"/>
          <p:nvPr/>
        </p:nvSpPr>
        <p:spPr>
          <a:xfrm>
            <a:off x="1070926" y="1891253"/>
            <a:ext cx="16146148" cy="9148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728"/>
              </a:lnSpc>
            </a:pPr>
            <a:r>
              <a:rPr lang="en-US" sz="7235" spc="-470">
                <a:solidFill>
                  <a:srgbClr val="004AAD"/>
                </a:solidFill>
                <a:latin typeface="Tomorrow"/>
                <a:ea typeface="Tomorrow"/>
                <a:cs typeface="Tomorrow"/>
                <a:sym typeface="Tomorrow"/>
              </a:rPr>
              <a:t>Relación con Ingeniería de Requisitos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859983" y="3905357"/>
            <a:ext cx="9133245" cy="55640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5551"/>
              </a:lnSpc>
            </a:pPr>
            <a:r>
              <a:rPr lang="en-US" sz="2570">
                <a:solidFill>
                  <a:srgbClr val="004AAD"/>
                </a:solidFill>
                <a:latin typeface="Tomorrow"/>
                <a:ea typeface="Tomorrow"/>
                <a:cs typeface="Tomorrow"/>
                <a:sym typeface="Tomorrow"/>
              </a:rPr>
              <a:t>Para el PFC, OpenReq podría contribuir al cumplimiento de principios establecidos en la norma IEEE 29148:2018 mediante:</a:t>
            </a:r>
          </a:p>
          <a:p>
            <a:pPr marL="554864" lvl="1" indent="-277432" algn="just">
              <a:lnSpc>
                <a:spcPts val="5551"/>
              </a:lnSpc>
              <a:buFont typeface="Arial"/>
              <a:buChar char="•"/>
            </a:pPr>
            <a:r>
              <a:rPr lang="en-US" sz="2570">
                <a:solidFill>
                  <a:srgbClr val="004AAD"/>
                </a:solidFill>
                <a:latin typeface="Tomorrow"/>
                <a:ea typeface="Tomorrow"/>
                <a:cs typeface="Tomorrow"/>
                <a:sym typeface="Tomorrow"/>
              </a:rPr>
              <a:t>Trazabilidad entre requisitos y funcionalidades.</a:t>
            </a:r>
          </a:p>
          <a:p>
            <a:pPr marL="554864" lvl="1" indent="-277432" algn="just">
              <a:lnSpc>
                <a:spcPts val="5551"/>
              </a:lnSpc>
              <a:buFont typeface="Arial"/>
              <a:buChar char="•"/>
            </a:pPr>
            <a:r>
              <a:rPr lang="en-US" sz="2570">
                <a:solidFill>
                  <a:srgbClr val="004AAD"/>
                </a:solidFill>
                <a:latin typeface="Tomorrow"/>
                <a:ea typeface="Tomorrow"/>
                <a:cs typeface="Tomorrow"/>
                <a:sym typeface="Tomorrow"/>
              </a:rPr>
              <a:t>Relación entre necesidades de usuarios y requisitos.</a:t>
            </a:r>
          </a:p>
          <a:p>
            <a:pPr marL="554864" lvl="1" indent="-277432" algn="just">
              <a:lnSpc>
                <a:spcPts val="5551"/>
              </a:lnSpc>
              <a:buFont typeface="Arial"/>
              <a:buChar char="•"/>
            </a:pPr>
            <a:r>
              <a:rPr lang="en-US" sz="2570">
                <a:solidFill>
                  <a:srgbClr val="004AAD"/>
                </a:solidFill>
                <a:latin typeface="Tomorrow"/>
                <a:ea typeface="Tomorrow"/>
                <a:cs typeface="Tomorrow"/>
                <a:sym typeface="Tomorrow"/>
              </a:rPr>
              <a:t>Seguimiento de requisitos durante el desarrollo.</a:t>
            </a:r>
          </a:p>
          <a:p>
            <a:pPr marL="554864" lvl="1" indent="-277432" algn="just">
              <a:lnSpc>
                <a:spcPts val="5551"/>
              </a:lnSpc>
              <a:buFont typeface="Arial"/>
              <a:buChar char="•"/>
            </a:pPr>
            <a:r>
              <a:rPr lang="en-US" sz="2570">
                <a:solidFill>
                  <a:srgbClr val="004AAD"/>
                </a:solidFill>
                <a:latin typeface="Tomorrow"/>
                <a:ea typeface="Tomorrow"/>
                <a:cs typeface="Tomorrow"/>
                <a:sym typeface="Tomorrow"/>
              </a:rPr>
              <a:t>Apoyo al control de cambios.</a:t>
            </a:r>
          </a:p>
          <a:p>
            <a:pPr algn="just">
              <a:lnSpc>
                <a:spcPts val="5551"/>
              </a:lnSpc>
            </a:pPr>
            <a:endParaRPr lang="en-US" sz="2570">
              <a:solidFill>
                <a:srgbClr val="004AAD"/>
              </a:solidFill>
              <a:latin typeface="Tomorrow"/>
              <a:ea typeface="Tomorrow"/>
              <a:cs typeface="Tomorrow"/>
              <a:sym typeface="Tomorrow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480253" y="731986"/>
            <a:ext cx="17327495" cy="8823028"/>
            <a:chOff x="0" y="0"/>
            <a:chExt cx="4256676" cy="2167467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256676" cy="2167467"/>
            </a:xfrm>
            <a:custGeom>
              <a:avLst/>
              <a:gdLst/>
              <a:ahLst/>
              <a:cxnLst/>
              <a:rect l="l" t="t" r="r" b="b"/>
              <a:pathLst>
                <a:path w="4256676" h="2167467">
                  <a:moveTo>
                    <a:pt x="0" y="0"/>
                  </a:moveTo>
                  <a:lnTo>
                    <a:pt x="4256676" y="0"/>
                  </a:lnTo>
                  <a:lnTo>
                    <a:pt x="4256676" y="2167467"/>
                  </a:lnTo>
                  <a:lnTo>
                    <a:pt x="0" y="2167467"/>
                  </a:lnTo>
                  <a:close/>
                </a:path>
              </a:pathLst>
            </a:custGeom>
            <a:ln w="76200" cap="sq">
              <a:solidFill>
                <a:srgbClr val="FF6201"/>
              </a:solidFill>
              <a:prstDash val="solid"/>
              <a:miter/>
            </a:ln>
          </p:spPr>
          <p:txBody>
            <a:bodyPr/>
            <a:lstStyle/>
            <a:p>
              <a:endParaRPr lang="es-EC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57150"/>
              <a:ext cx="4256676" cy="222461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480252" y="731986"/>
            <a:ext cx="8561178" cy="8823028"/>
            <a:chOff x="0" y="0"/>
            <a:chExt cx="11414905" cy="11764037"/>
          </a:xfrm>
        </p:grpSpPr>
        <p:grpSp>
          <p:nvGrpSpPr>
            <p:cNvPr id="6" name="Group 6"/>
            <p:cNvGrpSpPr/>
            <p:nvPr/>
          </p:nvGrpSpPr>
          <p:grpSpPr>
            <a:xfrm>
              <a:off x="0" y="0"/>
              <a:ext cx="11409043" cy="11764037"/>
              <a:chOff x="0" y="0"/>
              <a:chExt cx="2102061" cy="2167467"/>
            </a:xfrm>
          </p:grpSpPr>
          <p:sp>
            <p:nvSpPr>
              <p:cNvPr id="7" name="Freeform 7"/>
              <p:cNvSpPr/>
              <p:nvPr/>
            </p:nvSpPr>
            <p:spPr>
              <a:xfrm>
                <a:off x="0" y="0"/>
                <a:ext cx="2102061" cy="2167467"/>
              </a:xfrm>
              <a:custGeom>
                <a:avLst/>
                <a:gdLst/>
                <a:ahLst/>
                <a:cxnLst/>
                <a:rect l="l" t="t" r="r" b="b"/>
                <a:pathLst>
                  <a:path w="2102061" h="2167467">
                    <a:moveTo>
                      <a:pt x="0" y="0"/>
                    </a:moveTo>
                    <a:lnTo>
                      <a:pt x="2102061" y="0"/>
                    </a:lnTo>
                    <a:lnTo>
                      <a:pt x="2102061" y="2167467"/>
                    </a:lnTo>
                    <a:lnTo>
                      <a:pt x="0" y="2167467"/>
                    </a:lnTo>
                    <a:close/>
                  </a:path>
                </a:pathLst>
              </a:custGeom>
              <a:ln w="76200" cap="sq">
                <a:solidFill>
                  <a:srgbClr val="FF6201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s-EC"/>
              </a:p>
            </p:txBody>
          </p:sp>
          <p:sp>
            <p:nvSpPr>
              <p:cNvPr id="8" name="TextBox 8"/>
              <p:cNvSpPr txBox="1"/>
              <p:nvPr/>
            </p:nvSpPr>
            <p:spPr>
              <a:xfrm>
                <a:off x="0" y="-66675"/>
                <a:ext cx="2102061" cy="2234142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359"/>
                  </a:lnSpc>
                </a:pPr>
                <a:endParaRPr/>
              </a:p>
            </p:txBody>
          </p:sp>
        </p:grpSp>
        <p:sp>
          <p:nvSpPr>
            <p:cNvPr id="9" name="Freeform 9"/>
            <p:cNvSpPr/>
            <p:nvPr/>
          </p:nvSpPr>
          <p:spPr>
            <a:xfrm>
              <a:off x="5843029" y="0"/>
              <a:ext cx="5571876" cy="5882018"/>
            </a:xfrm>
            <a:custGeom>
              <a:avLst/>
              <a:gdLst/>
              <a:ahLst/>
              <a:cxnLst/>
              <a:rect l="l" t="t" r="r" b="b"/>
              <a:pathLst>
                <a:path w="5571876" h="5882018">
                  <a:moveTo>
                    <a:pt x="0" y="0"/>
                  </a:moveTo>
                  <a:lnTo>
                    <a:pt x="5571876" y="0"/>
                  </a:lnTo>
                  <a:lnTo>
                    <a:pt x="5571876" y="5882018"/>
                  </a:lnTo>
                  <a:lnTo>
                    <a:pt x="0" y="588201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EC"/>
            </a:p>
          </p:txBody>
        </p:sp>
        <p:sp>
          <p:nvSpPr>
            <p:cNvPr id="10" name="Freeform 10"/>
            <p:cNvSpPr/>
            <p:nvPr/>
          </p:nvSpPr>
          <p:spPr>
            <a:xfrm flipH="1" flipV="1">
              <a:off x="0" y="5882018"/>
              <a:ext cx="5571876" cy="5882018"/>
            </a:xfrm>
            <a:custGeom>
              <a:avLst/>
              <a:gdLst/>
              <a:ahLst/>
              <a:cxnLst/>
              <a:rect l="l" t="t" r="r" b="b"/>
              <a:pathLst>
                <a:path w="5571876" h="5882018">
                  <a:moveTo>
                    <a:pt x="5571876" y="5882019"/>
                  </a:moveTo>
                  <a:lnTo>
                    <a:pt x="0" y="5882019"/>
                  </a:lnTo>
                  <a:lnTo>
                    <a:pt x="0" y="0"/>
                  </a:lnTo>
                  <a:lnTo>
                    <a:pt x="5571876" y="0"/>
                  </a:lnTo>
                  <a:lnTo>
                    <a:pt x="5571876" y="5882019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EC"/>
            </a:p>
          </p:txBody>
        </p:sp>
      </p:grpSp>
      <p:sp>
        <p:nvSpPr>
          <p:cNvPr id="12" name="TextBox 12"/>
          <p:cNvSpPr txBox="1"/>
          <p:nvPr/>
        </p:nvSpPr>
        <p:spPr>
          <a:xfrm>
            <a:off x="9555274" y="1651702"/>
            <a:ext cx="7899715" cy="10900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516"/>
              </a:lnSpc>
            </a:pPr>
            <a:r>
              <a:rPr lang="en-US" sz="9600" spc="-469" dirty="0" err="1">
                <a:solidFill>
                  <a:srgbClr val="004AAD"/>
                </a:solidFill>
                <a:latin typeface="Tomorrow"/>
                <a:ea typeface="Tomorrow"/>
                <a:cs typeface="Tomorrow"/>
                <a:sym typeface="Tomorrow"/>
              </a:rPr>
              <a:t>Análisis</a:t>
            </a:r>
            <a:r>
              <a:rPr lang="en-US" sz="9600" spc="-469" dirty="0">
                <a:solidFill>
                  <a:srgbClr val="004AAD"/>
                </a:solidFill>
                <a:latin typeface="Tomorrow"/>
                <a:ea typeface="Tomorrow"/>
                <a:cs typeface="Tomorrow"/>
                <a:sym typeface="Tomorrow"/>
              </a:rPr>
              <a:t> </a:t>
            </a:r>
            <a:r>
              <a:rPr lang="en-US" sz="9600" spc="-469" dirty="0" err="1">
                <a:solidFill>
                  <a:srgbClr val="004AAD"/>
                </a:solidFill>
                <a:latin typeface="Tomorrow"/>
                <a:ea typeface="Tomorrow"/>
                <a:cs typeface="Tomorrow"/>
                <a:sym typeface="Tomorrow"/>
              </a:rPr>
              <a:t>crítico</a:t>
            </a:r>
            <a:r>
              <a:rPr lang="en-US" sz="9600" spc="-469" dirty="0">
                <a:solidFill>
                  <a:srgbClr val="004AAD"/>
                </a:solidFill>
                <a:latin typeface="Tomorrow"/>
                <a:ea typeface="Tomorrow"/>
                <a:cs typeface="Tomorrow"/>
                <a:sym typeface="Tomorrow"/>
              </a:rPr>
              <a:t> 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9364853" y="3570475"/>
            <a:ext cx="7894447" cy="47961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47697" lvl="1" indent="-323848">
              <a:lnSpc>
                <a:spcPts val="3400"/>
              </a:lnSpc>
              <a:buFont typeface="Arial"/>
              <a:buChar char="•"/>
            </a:pPr>
            <a:r>
              <a:rPr lang="en-US" sz="2800" b="1" dirty="0">
                <a:solidFill>
                  <a:srgbClr val="004AAD"/>
                </a:solidFill>
                <a:latin typeface="Tomorrow"/>
                <a:ea typeface="Tomorrow"/>
                <a:cs typeface="Tomorrow"/>
                <a:sym typeface="Tomorrow"/>
              </a:rPr>
              <a:t>a) ¿</a:t>
            </a:r>
            <a:r>
              <a:rPr lang="en-US" sz="2800" b="1" dirty="0" err="1">
                <a:solidFill>
                  <a:srgbClr val="004AAD"/>
                </a:solidFill>
                <a:latin typeface="Tomorrow"/>
                <a:ea typeface="Tomorrow"/>
                <a:cs typeface="Tomorrow"/>
                <a:sym typeface="Tomorrow"/>
              </a:rPr>
              <a:t>Reemplaza</a:t>
            </a:r>
            <a:r>
              <a:rPr lang="en-US" sz="2800" b="1" dirty="0">
                <a:solidFill>
                  <a:srgbClr val="004AAD"/>
                </a:solidFill>
                <a:latin typeface="Tomorrow"/>
                <a:ea typeface="Tomorrow"/>
                <a:cs typeface="Tomorrow"/>
                <a:sym typeface="Tomorrow"/>
              </a:rPr>
              <a:t> o </a:t>
            </a:r>
            <a:r>
              <a:rPr lang="en-US" sz="2800" b="1" dirty="0" err="1">
                <a:solidFill>
                  <a:srgbClr val="004AAD"/>
                </a:solidFill>
                <a:latin typeface="Tomorrow"/>
                <a:ea typeface="Tomorrow"/>
                <a:cs typeface="Tomorrow"/>
                <a:sym typeface="Tomorrow"/>
              </a:rPr>
              <a:t>complementa</a:t>
            </a:r>
            <a:r>
              <a:rPr lang="en-US" sz="2800" b="1" dirty="0">
                <a:solidFill>
                  <a:srgbClr val="004AAD"/>
                </a:solidFill>
                <a:latin typeface="Tomorrow"/>
                <a:ea typeface="Tomorrow"/>
                <a:cs typeface="Tomorrow"/>
                <a:sym typeface="Tomorrow"/>
              </a:rPr>
              <a:t> al </a:t>
            </a:r>
            <a:r>
              <a:rPr lang="en-US" sz="2800" b="1" dirty="0" err="1">
                <a:solidFill>
                  <a:srgbClr val="004AAD"/>
                </a:solidFill>
                <a:latin typeface="Tomorrow"/>
                <a:ea typeface="Tomorrow"/>
                <a:cs typeface="Tomorrow"/>
                <a:sym typeface="Tomorrow"/>
              </a:rPr>
              <a:t>analista</a:t>
            </a:r>
            <a:r>
              <a:rPr lang="en-US" sz="2800" b="1" dirty="0">
                <a:solidFill>
                  <a:srgbClr val="004AAD"/>
                </a:solidFill>
                <a:latin typeface="Tomorrow"/>
                <a:ea typeface="Tomorrow"/>
                <a:cs typeface="Tomorrow"/>
                <a:sym typeface="Tomorrow"/>
              </a:rPr>
              <a:t>?</a:t>
            </a:r>
            <a:br>
              <a:rPr lang="en-US" sz="2800" b="1" dirty="0">
                <a:solidFill>
                  <a:srgbClr val="004AAD"/>
                </a:solidFill>
                <a:latin typeface="Tomorrow"/>
                <a:ea typeface="Tomorrow"/>
                <a:cs typeface="Tomorrow"/>
                <a:sym typeface="Tomorrow"/>
              </a:rPr>
            </a:br>
            <a:endParaRPr lang="en-US" sz="2800" b="1" dirty="0">
              <a:solidFill>
                <a:srgbClr val="004AAD"/>
              </a:solidFill>
              <a:latin typeface="Tomorrow"/>
              <a:ea typeface="Tomorrow"/>
              <a:cs typeface="Tomorrow"/>
              <a:sym typeface="Tomorrow"/>
            </a:endParaRPr>
          </a:p>
          <a:p>
            <a:pPr marL="647697" lvl="1" indent="-323848">
              <a:lnSpc>
                <a:spcPts val="3400"/>
              </a:lnSpc>
              <a:buFont typeface="Arial"/>
              <a:buChar char="•"/>
            </a:pPr>
            <a:r>
              <a:rPr lang="en-US" sz="2800" b="1" dirty="0">
                <a:solidFill>
                  <a:srgbClr val="004AAD"/>
                </a:solidFill>
                <a:latin typeface="Tomorrow"/>
                <a:ea typeface="Tomorrow"/>
                <a:cs typeface="Tomorrow"/>
                <a:sym typeface="Tomorrow"/>
              </a:rPr>
              <a:t>b) ¿</a:t>
            </a:r>
            <a:r>
              <a:rPr lang="en-US" sz="2800" b="1" dirty="0" err="1">
                <a:solidFill>
                  <a:srgbClr val="004AAD"/>
                </a:solidFill>
                <a:latin typeface="Tomorrow"/>
                <a:ea typeface="Tomorrow"/>
                <a:cs typeface="Tomorrow"/>
                <a:sym typeface="Tomorrow"/>
              </a:rPr>
              <a:t>Qué</a:t>
            </a:r>
            <a:r>
              <a:rPr lang="en-US" sz="2800" b="1" dirty="0">
                <a:solidFill>
                  <a:srgbClr val="004AAD"/>
                </a:solidFill>
                <a:latin typeface="Tomorrow"/>
                <a:ea typeface="Tomorrow"/>
                <a:cs typeface="Tomorrow"/>
                <a:sym typeface="Tomorrow"/>
              </a:rPr>
              <a:t> </a:t>
            </a:r>
            <a:r>
              <a:rPr lang="en-US" sz="2800" b="1" dirty="0" err="1">
                <a:solidFill>
                  <a:srgbClr val="004AAD"/>
                </a:solidFill>
                <a:latin typeface="Tomorrow"/>
                <a:ea typeface="Tomorrow"/>
                <a:cs typeface="Tomorrow"/>
                <a:sym typeface="Tomorrow"/>
              </a:rPr>
              <a:t>propiedad</a:t>
            </a:r>
            <a:r>
              <a:rPr lang="en-US" sz="2800" b="1" dirty="0">
                <a:solidFill>
                  <a:srgbClr val="004AAD"/>
                </a:solidFill>
                <a:latin typeface="Tomorrow"/>
                <a:ea typeface="Tomorrow"/>
                <a:cs typeface="Tomorrow"/>
                <a:sym typeface="Tomorrow"/>
              </a:rPr>
              <a:t> de ISO/IEC 25010 </a:t>
            </a:r>
            <a:r>
              <a:rPr lang="en-US" sz="2800" b="1" dirty="0" err="1">
                <a:solidFill>
                  <a:srgbClr val="004AAD"/>
                </a:solidFill>
                <a:latin typeface="Tomorrow"/>
                <a:ea typeface="Tomorrow"/>
                <a:cs typeface="Tomorrow"/>
                <a:sym typeface="Tomorrow"/>
              </a:rPr>
              <a:t>mejora</a:t>
            </a:r>
            <a:r>
              <a:rPr lang="en-US" sz="2800" b="1" dirty="0">
                <a:solidFill>
                  <a:srgbClr val="004AAD"/>
                </a:solidFill>
                <a:latin typeface="Tomorrow"/>
                <a:ea typeface="Tomorrow"/>
                <a:cs typeface="Tomorrow"/>
                <a:sym typeface="Tomorrow"/>
              </a:rPr>
              <a:t> o </a:t>
            </a:r>
            <a:r>
              <a:rPr lang="en-US" sz="2800" b="1" dirty="0" err="1">
                <a:solidFill>
                  <a:srgbClr val="004AAD"/>
                </a:solidFill>
                <a:latin typeface="Tomorrow"/>
                <a:ea typeface="Tomorrow"/>
                <a:cs typeface="Tomorrow"/>
                <a:sym typeface="Tomorrow"/>
              </a:rPr>
              <a:t>compromete</a:t>
            </a:r>
            <a:r>
              <a:rPr lang="en-US" sz="2800" b="1" dirty="0">
                <a:solidFill>
                  <a:srgbClr val="004AAD"/>
                </a:solidFill>
                <a:latin typeface="Tomorrow"/>
                <a:ea typeface="Tomorrow"/>
                <a:cs typeface="Tomorrow"/>
                <a:sym typeface="Tomorrow"/>
              </a:rPr>
              <a:t>?</a:t>
            </a:r>
            <a:br>
              <a:rPr lang="en-US" sz="2800" b="1" dirty="0">
                <a:solidFill>
                  <a:srgbClr val="004AAD"/>
                </a:solidFill>
                <a:latin typeface="Tomorrow"/>
                <a:ea typeface="Tomorrow"/>
                <a:cs typeface="Tomorrow"/>
                <a:sym typeface="Tomorrow"/>
              </a:rPr>
            </a:br>
            <a:endParaRPr lang="en-US" sz="2800" b="1" dirty="0">
              <a:solidFill>
                <a:srgbClr val="004AAD"/>
              </a:solidFill>
              <a:latin typeface="Tomorrow"/>
              <a:ea typeface="Tomorrow"/>
              <a:cs typeface="Tomorrow"/>
              <a:sym typeface="Tomorrow"/>
            </a:endParaRPr>
          </a:p>
          <a:p>
            <a:pPr marL="647697" lvl="1" indent="-323848">
              <a:lnSpc>
                <a:spcPts val="3400"/>
              </a:lnSpc>
              <a:buFont typeface="Arial"/>
              <a:buChar char="•"/>
            </a:pPr>
            <a:r>
              <a:rPr lang="en-US" sz="2800" b="1" dirty="0">
                <a:solidFill>
                  <a:srgbClr val="004AAD"/>
                </a:solidFill>
                <a:latin typeface="Tomorrow"/>
                <a:ea typeface="Tomorrow"/>
                <a:cs typeface="Tomorrow"/>
                <a:sym typeface="Tomorrow"/>
              </a:rPr>
              <a:t>c) ¿Es </a:t>
            </a:r>
            <a:r>
              <a:rPr lang="en-US" sz="2800" b="1" dirty="0" err="1">
                <a:solidFill>
                  <a:srgbClr val="004AAD"/>
                </a:solidFill>
                <a:latin typeface="Tomorrow"/>
                <a:ea typeface="Tomorrow"/>
                <a:cs typeface="Tomorrow"/>
                <a:sym typeface="Tomorrow"/>
              </a:rPr>
              <a:t>aplicable</a:t>
            </a:r>
            <a:r>
              <a:rPr lang="en-US" sz="2800" b="1" dirty="0">
                <a:solidFill>
                  <a:srgbClr val="004AAD"/>
                </a:solidFill>
                <a:latin typeface="Tomorrow"/>
                <a:ea typeface="Tomorrow"/>
                <a:cs typeface="Tomorrow"/>
                <a:sym typeface="Tomorrow"/>
              </a:rPr>
              <a:t> </a:t>
            </a:r>
            <a:r>
              <a:rPr lang="en-US" sz="2800" b="1" dirty="0" err="1">
                <a:solidFill>
                  <a:srgbClr val="004AAD"/>
                </a:solidFill>
                <a:latin typeface="Tomorrow"/>
                <a:ea typeface="Tomorrow"/>
                <a:cs typeface="Tomorrow"/>
                <a:sym typeface="Tomorrow"/>
              </a:rPr>
              <a:t>en</a:t>
            </a:r>
            <a:r>
              <a:rPr lang="en-US" sz="2800" b="1" dirty="0">
                <a:solidFill>
                  <a:srgbClr val="004AAD"/>
                </a:solidFill>
                <a:latin typeface="Tomorrow"/>
                <a:ea typeface="Tomorrow"/>
                <a:cs typeface="Tomorrow"/>
                <a:sym typeface="Tomorrow"/>
              </a:rPr>
              <a:t> </a:t>
            </a:r>
            <a:r>
              <a:rPr lang="en-US" sz="2800" b="1" dirty="0" err="1">
                <a:solidFill>
                  <a:srgbClr val="004AAD"/>
                </a:solidFill>
                <a:latin typeface="Tomorrow"/>
                <a:ea typeface="Tomorrow"/>
                <a:cs typeface="Tomorrow"/>
                <a:sym typeface="Tomorrow"/>
              </a:rPr>
              <a:t>el</a:t>
            </a:r>
            <a:r>
              <a:rPr lang="en-US" sz="2800" b="1" dirty="0">
                <a:solidFill>
                  <a:srgbClr val="004AAD"/>
                </a:solidFill>
                <a:latin typeface="Tomorrow"/>
                <a:ea typeface="Tomorrow"/>
                <a:cs typeface="Tomorrow"/>
                <a:sym typeface="Tomorrow"/>
              </a:rPr>
              <a:t> </a:t>
            </a:r>
            <a:r>
              <a:rPr lang="en-US" sz="2800" b="1" dirty="0" err="1">
                <a:solidFill>
                  <a:srgbClr val="004AAD"/>
                </a:solidFill>
                <a:latin typeface="Tomorrow"/>
                <a:ea typeface="Tomorrow"/>
                <a:cs typeface="Tomorrow"/>
                <a:sym typeface="Tomorrow"/>
              </a:rPr>
              <a:t>contexto</a:t>
            </a:r>
            <a:r>
              <a:rPr lang="en-US" sz="2800" b="1" dirty="0">
                <a:solidFill>
                  <a:srgbClr val="004AAD"/>
                </a:solidFill>
                <a:latin typeface="Tomorrow"/>
                <a:ea typeface="Tomorrow"/>
                <a:cs typeface="Tomorrow"/>
                <a:sym typeface="Tomorrow"/>
              </a:rPr>
              <a:t> local (PFC </a:t>
            </a:r>
            <a:r>
              <a:rPr lang="en-US" sz="2800" b="1" dirty="0" err="1">
                <a:solidFill>
                  <a:srgbClr val="004AAD"/>
                </a:solidFill>
                <a:latin typeface="Tomorrow"/>
                <a:ea typeface="Tomorrow"/>
                <a:cs typeface="Tomorrow"/>
                <a:sym typeface="Tomorrow"/>
              </a:rPr>
              <a:t>MundiPets</a:t>
            </a:r>
            <a:r>
              <a:rPr lang="en-US" sz="2800" b="1" dirty="0">
                <a:solidFill>
                  <a:srgbClr val="004AAD"/>
                </a:solidFill>
                <a:latin typeface="Tomorrow"/>
                <a:ea typeface="Tomorrow"/>
                <a:cs typeface="Tomorrow"/>
                <a:sym typeface="Tomorrow"/>
              </a:rPr>
              <a:t>)?</a:t>
            </a:r>
            <a:br>
              <a:rPr lang="en-US" sz="2800" b="1" dirty="0">
                <a:solidFill>
                  <a:srgbClr val="004AAD"/>
                </a:solidFill>
                <a:latin typeface="Tomorrow"/>
                <a:ea typeface="Tomorrow"/>
                <a:cs typeface="Tomorrow"/>
                <a:sym typeface="Tomorrow"/>
              </a:rPr>
            </a:br>
            <a:endParaRPr lang="en-US" sz="2800" b="1" dirty="0">
              <a:solidFill>
                <a:srgbClr val="004AAD"/>
              </a:solidFill>
              <a:latin typeface="Tomorrow"/>
              <a:ea typeface="Tomorrow"/>
              <a:cs typeface="Tomorrow"/>
              <a:sym typeface="Tomorrow"/>
            </a:endParaRPr>
          </a:p>
          <a:p>
            <a:pPr marL="647697" lvl="1" indent="-323848">
              <a:lnSpc>
                <a:spcPts val="3400"/>
              </a:lnSpc>
              <a:buFont typeface="Arial"/>
              <a:buChar char="•"/>
            </a:pPr>
            <a:r>
              <a:rPr lang="en-US" sz="2800" b="1" dirty="0">
                <a:solidFill>
                  <a:srgbClr val="004AAD"/>
                </a:solidFill>
                <a:latin typeface="Tomorrow"/>
                <a:ea typeface="Tomorrow"/>
                <a:cs typeface="Tomorrow"/>
                <a:sym typeface="Tomorrow"/>
              </a:rPr>
              <a:t>d) ¿</a:t>
            </a:r>
            <a:r>
              <a:rPr lang="en-US" sz="2800" b="1" dirty="0" err="1">
                <a:solidFill>
                  <a:srgbClr val="004AAD"/>
                </a:solidFill>
                <a:latin typeface="Tomorrow"/>
                <a:ea typeface="Tomorrow"/>
                <a:cs typeface="Tomorrow"/>
                <a:sym typeface="Tomorrow"/>
              </a:rPr>
              <a:t>Qué</a:t>
            </a:r>
            <a:r>
              <a:rPr lang="en-US" sz="2800" b="1" dirty="0">
                <a:solidFill>
                  <a:srgbClr val="004AAD"/>
                </a:solidFill>
                <a:latin typeface="Tomorrow"/>
                <a:ea typeface="Tomorrow"/>
                <a:cs typeface="Tomorrow"/>
                <a:sym typeface="Tomorrow"/>
              </a:rPr>
              <a:t> </a:t>
            </a:r>
            <a:r>
              <a:rPr lang="en-US" sz="2800" b="1" dirty="0" err="1">
                <a:solidFill>
                  <a:srgbClr val="004AAD"/>
                </a:solidFill>
                <a:latin typeface="Tomorrow"/>
                <a:ea typeface="Tomorrow"/>
                <a:cs typeface="Tomorrow"/>
                <a:sym typeface="Tomorrow"/>
              </a:rPr>
              <a:t>riesgo</a:t>
            </a:r>
            <a:r>
              <a:rPr lang="en-US" sz="2800" b="1" dirty="0">
                <a:solidFill>
                  <a:srgbClr val="004AAD"/>
                </a:solidFill>
                <a:latin typeface="Tomorrow"/>
                <a:ea typeface="Tomorrow"/>
                <a:cs typeface="Tomorrow"/>
                <a:sym typeface="Tomorrow"/>
              </a:rPr>
              <a:t> </a:t>
            </a:r>
            <a:r>
              <a:rPr lang="en-US" sz="2800" b="1" dirty="0" err="1">
                <a:solidFill>
                  <a:srgbClr val="004AAD"/>
                </a:solidFill>
                <a:latin typeface="Tomorrow"/>
                <a:ea typeface="Tomorrow"/>
                <a:cs typeface="Tomorrow"/>
                <a:sym typeface="Tomorrow"/>
              </a:rPr>
              <a:t>ético</a:t>
            </a:r>
            <a:r>
              <a:rPr lang="en-US" sz="2800" b="1" dirty="0">
                <a:solidFill>
                  <a:srgbClr val="004AAD"/>
                </a:solidFill>
                <a:latin typeface="Tomorrow"/>
                <a:ea typeface="Tomorrow"/>
                <a:cs typeface="Tomorrow"/>
                <a:sym typeface="Tomorrow"/>
              </a:rPr>
              <a:t> </a:t>
            </a:r>
            <a:r>
              <a:rPr lang="en-US" sz="2800" b="1" dirty="0" err="1">
                <a:solidFill>
                  <a:srgbClr val="004AAD"/>
                </a:solidFill>
                <a:latin typeface="Tomorrow"/>
                <a:ea typeface="Tomorrow"/>
                <a:cs typeface="Tomorrow"/>
                <a:sym typeface="Tomorrow"/>
              </a:rPr>
              <a:t>identifican</a:t>
            </a:r>
            <a:r>
              <a:rPr lang="en-US" sz="2800" b="1" dirty="0">
                <a:solidFill>
                  <a:srgbClr val="004AAD"/>
                </a:solidFill>
                <a:latin typeface="Tomorrow"/>
                <a:ea typeface="Tomorrow"/>
                <a:cs typeface="Tomorrow"/>
                <a:sym typeface="Tomorrow"/>
              </a:rPr>
              <a:t>?</a:t>
            </a:r>
          </a:p>
          <a:p>
            <a:pPr marL="647697" lvl="1" indent="-323848" algn="just">
              <a:lnSpc>
                <a:spcPts val="3400"/>
              </a:lnSpc>
              <a:buFont typeface="Arial"/>
              <a:buChar char="•"/>
            </a:pPr>
            <a:endParaRPr lang="en-US" sz="2800" b="1" dirty="0">
              <a:solidFill>
                <a:srgbClr val="004AAD"/>
              </a:solidFill>
              <a:latin typeface="Tomorrow"/>
              <a:ea typeface="Tomorrow"/>
              <a:cs typeface="Tomorrow"/>
              <a:sym typeface="Tomorrow"/>
            </a:endParaRPr>
          </a:p>
        </p:txBody>
      </p:sp>
      <p:pic>
        <p:nvPicPr>
          <p:cNvPr id="1026" name="Picture 2" descr="Cómo analizar un artículo científico Archivos - S.E.F.O.">
            <a:extLst>
              <a:ext uri="{FF2B5EF4-FFF2-40B4-BE49-F238E27FC236}">
                <a16:creationId xmlns:a16="http://schemas.microsoft.com/office/drawing/2014/main" id="{082EA9FF-CF7C-44EF-BF2B-3B5D7C73AF4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75978" y="3674838"/>
            <a:ext cx="7013208" cy="36964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480253" y="731986"/>
            <a:ext cx="17327495" cy="8823028"/>
            <a:chOff x="0" y="0"/>
            <a:chExt cx="4256676" cy="2167467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256676" cy="2167467"/>
            </a:xfrm>
            <a:custGeom>
              <a:avLst/>
              <a:gdLst/>
              <a:ahLst/>
              <a:cxnLst/>
              <a:rect l="l" t="t" r="r" b="b"/>
              <a:pathLst>
                <a:path w="4256676" h="2167467">
                  <a:moveTo>
                    <a:pt x="0" y="0"/>
                  </a:moveTo>
                  <a:lnTo>
                    <a:pt x="4256676" y="0"/>
                  </a:lnTo>
                  <a:lnTo>
                    <a:pt x="4256676" y="2167467"/>
                  </a:lnTo>
                  <a:lnTo>
                    <a:pt x="0" y="2167467"/>
                  </a:lnTo>
                  <a:close/>
                </a:path>
              </a:pathLst>
            </a:custGeom>
            <a:ln w="76200" cap="sq">
              <a:solidFill>
                <a:srgbClr val="FF6201"/>
              </a:solidFill>
              <a:prstDash val="solid"/>
              <a:miter/>
            </a:ln>
          </p:spPr>
          <p:txBody>
            <a:bodyPr/>
            <a:lstStyle/>
            <a:p>
              <a:endParaRPr lang="es-EC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57150"/>
              <a:ext cx="4256676" cy="222461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480253" y="731986"/>
            <a:ext cx="8561178" cy="8823028"/>
            <a:chOff x="0" y="0"/>
            <a:chExt cx="11414905" cy="11764037"/>
          </a:xfrm>
        </p:grpSpPr>
        <p:grpSp>
          <p:nvGrpSpPr>
            <p:cNvPr id="6" name="Group 6"/>
            <p:cNvGrpSpPr/>
            <p:nvPr/>
          </p:nvGrpSpPr>
          <p:grpSpPr>
            <a:xfrm>
              <a:off x="0" y="0"/>
              <a:ext cx="11409043" cy="11764037"/>
              <a:chOff x="0" y="0"/>
              <a:chExt cx="2102061" cy="2167467"/>
            </a:xfrm>
          </p:grpSpPr>
          <p:sp>
            <p:nvSpPr>
              <p:cNvPr id="7" name="Freeform 7"/>
              <p:cNvSpPr/>
              <p:nvPr/>
            </p:nvSpPr>
            <p:spPr>
              <a:xfrm>
                <a:off x="0" y="0"/>
                <a:ext cx="2102061" cy="2167467"/>
              </a:xfrm>
              <a:custGeom>
                <a:avLst/>
                <a:gdLst/>
                <a:ahLst/>
                <a:cxnLst/>
                <a:rect l="l" t="t" r="r" b="b"/>
                <a:pathLst>
                  <a:path w="2102061" h="2167467">
                    <a:moveTo>
                      <a:pt x="0" y="0"/>
                    </a:moveTo>
                    <a:lnTo>
                      <a:pt x="2102061" y="0"/>
                    </a:lnTo>
                    <a:lnTo>
                      <a:pt x="2102061" y="2167467"/>
                    </a:lnTo>
                    <a:lnTo>
                      <a:pt x="0" y="2167467"/>
                    </a:lnTo>
                    <a:close/>
                  </a:path>
                </a:pathLst>
              </a:custGeom>
              <a:ln w="76200" cap="sq">
                <a:solidFill>
                  <a:srgbClr val="FF6201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s-EC"/>
              </a:p>
            </p:txBody>
          </p:sp>
          <p:sp>
            <p:nvSpPr>
              <p:cNvPr id="8" name="TextBox 8"/>
              <p:cNvSpPr txBox="1"/>
              <p:nvPr/>
            </p:nvSpPr>
            <p:spPr>
              <a:xfrm>
                <a:off x="0" y="-66675"/>
                <a:ext cx="2102061" cy="2234142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359"/>
                  </a:lnSpc>
                </a:pPr>
                <a:endParaRPr/>
              </a:p>
            </p:txBody>
          </p:sp>
        </p:grpSp>
        <p:sp>
          <p:nvSpPr>
            <p:cNvPr id="9" name="Freeform 9"/>
            <p:cNvSpPr/>
            <p:nvPr/>
          </p:nvSpPr>
          <p:spPr>
            <a:xfrm>
              <a:off x="5843029" y="0"/>
              <a:ext cx="5571876" cy="5882018"/>
            </a:xfrm>
            <a:custGeom>
              <a:avLst/>
              <a:gdLst/>
              <a:ahLst/>
              <a:cxnLst/>
              <a:rect l="l" t="t" r="r" b="b"/>
              <a:pathLst>
                <a:path w="5571876" h="5882018">
                  <a:moveTo>
                    <a:pt x="0" y="0"/>
                  </a:moveTo>
                  <a:lnTo>
                    <a:pt x="5571876" y="0"/>
                  </a:lnTo>
                  <a:lnTo>
                    <a:pt x="5571876" y="5882018"/>
                  </a:lnTo>
                  <a:lnTo>
                    <a:pt x="0" y="588201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EC"/>
            </a:p>
          </p:txBody>
        </p:sp>
        <p:sp>
          <p:nvSpPr>
            <p:cNvPr id="10" name="Freeform 10"/>
            <p:cNvSpPr/>
            <p:nvPr/>
          </p:nvSpPr>
          <p:spPr>
            <a:xfrm flipH="1" flipV="1">
              <a:off x="0" y="5882018"/>
              <a:ext cx="5571876" cy="5882018"/>
            </a:xfrm>
            <a:custGeom>
              <a:avLst/>
              <a:gdLst/>
              <a:ahLst/>
              <a:cxnLst/>
              <a:rect l="l" t="t" r="r" b="b"/>
              <a:pathLst>
                <a:path w="5571876" h="5882018">
                  <a:moveTo>
                    <a:pt x="5571876" y="5882019"/>
                  </a:moveTo>
                  <a:lnTo>
                    <a:pt x="0" y="5882019"/>
                  </a:lnTo>
                  <a:lnTo>
                    <a:pt x="0" y="0"/>
                  </a:lnTo>
                  <a:lnTo>
                    <a:pt x="5571876" y="0"/>
                  </a:lnTo>
                  <a:lnTo>
                    <a:pt x="5571876" y="5882019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EC"/>
            </a:p>
          </p:txBody>
        </p:sp>
      </p:grpSp>
      <p:sp>
        <p:nvSpPr>
          <p:cNvPr id="11" name="Freeform 11"/>
          <p:cNvSpPr/>
          <p:nvPr/>
        </p:nvSpPr>
        <p:spPr>
          <a:xfrm>
            <a:off x="1940144" y="2350855"/>
            <a:ext cx="5641396" cy="5662631"/>
          </a:xfrm>
          <a:custGeom>
            <a:avLst/>
            <a:gdLst/>
            <a:ahLst/>
            <a:cxnLst/>
            <a:rect l="l" t="t" r="r" b="b"/>
            <a:pathLst>
              <a:path w="5641396" h="5662631">
                <a:moveTo>
                  <a:pt x="0" y="0"/>
                </a:moveTo>
                <a:lnTo>
                  <a:pt x="5641396" y="0"/>
                </a:lnTo>
                <a:lnTo>
                  <a:pt x="5641396" y="5662631"/>
                </a:lnTo>
                <a:lnTo>
                  <a:pt x="0" y="566263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EC"/>
          </a:p>
        </p:txBody>
      </p:sp>
      <p:sp>
        <p:nvSpPr>
          <p:cNvPr id="12" name="TextBox 12"/>
          <p:cNvSpPr txBox="1"/>
          <p:nvPr/>
        </p:nvSpPr>
        <p:spPr>
          <a:xfrm>
            <a:off x="9359585" y="1274889"/>
            <a:ext cx="7899715" cy="21614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516"/>
              </a:lnSpc>
            </a:pPr>
            <a:r>
              <a:rPr lang="en-US" sz="7217" spc="-469">
                <a:solidFill>
                  <a:srgbClr val="004AAD"/>
                </a:solidFill>
                <a:latin typeface="Tomorrow"/>
                <a:ea typeface="Tomorrow"/>
                <a:cs typeface="Tomorrow"/>
                <a:sym typeface="Tomorrow"/>
              </a:rPr>
              <a:t>Limitaciones para el PFC y conclusión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9369110" y="3771538"/>
            <a:ext cx="8415078" cy="48584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5556"/>
              </a:lnSpc>
            </a:pPr>
            <a:r>
              <a:rPr lang="en-US" sz="2572" b="1">
                <a:solidFill>
                  <a:srgbClr val="004AAD"/>
                </a:solidFill>
                <a:latin typeface="Tomorrow Bold"/>
                <a:ea typeface="Tomorrow Bold"/>
                <a:cs typeface="Tomorrow Bold"/>
                <a:sym typeface="Tomorrow Bold"/>
              </a:rPr>
              <a:t>Limitaciones</a:t>
            </a:r>
          </a:p>
          <a:p>
            <a:pPr marL="555409" lvl="1" indent="-277705" algn="just">
              <a:lnSpc>
                <a:spcPts val="5556"/>
              </a:lnSpc>
              <a:buFont typeface="Arial"/>
              <a:buChar char="•"/>
            </a:pPr>
            <a:r>
              <a:rPr lang="en-US" sz="2572">
                <a:solidFill>
                  <a:srgbClr val="004AAD"/>
                </a:solidFill>
                <a:latin typeface="Tomorrow"/>
                <a:ea typeface="Tomorrow"/>
                <a:cs typeface="Tomorrow"/>
                <a:sym typeface="Tomorrow"/>
              </a:rPr>
              <a:t>OpenReq ya no está disponible.</a:t>
            </a:r>
          </a:p>
          <a:p>
            <a:pPr marL="555409" lvl="1" indent="-277705" algn="just">
              <a:lnSpc>
                <a:spcPts val="5556"/>
              </a:lnSpc>
              <a:buFont typeface="Arial"/>
              <a:buChar char="•"/>
            </a:pPr>
            <a:r>
              <a:rPr lang="en-US" sz="2572">
                <a:solidFill>
                  <a:srgbClr val="004AAD"/>
                </a:solidFill>
                <a:latin typeface="Tomorrow"/>
                <a:ea typeface="Tomorrow"/>
                <a:cs typeface="Tomorrow"/>
                <a:sym typeface="Tomorrow"/>
              </a:rPr>
              <a:t>Diseñado para proyectos más complejos.</a:t>
            </a:r>
          </a:p>
          <a:p>
            <a:pPr marL="555409" lvl="1" indent="-277705" algn="just">
              <a:lnSpc>
                <a:spcPts val="5556"/>
              </a:lnSpc>
              <a:buFont typeface="Arial"/>
              <a:buChar char="•"/>
            </a:pPr>
            <a:r>
              <a:rPr lang="en-US" sz="2572">
                <a:solidFill>
                  <a:srgbClr val="004AAD"/>
                </a:solidFill>
                <a:latin typeface="Tomorrow"/>
                <a:ea typeface="Tomorrow"/>
                <a:cs typeface="Tomorrow"/>
                <a:sym typeface="Tomorrow"/>
              </a:rPr>
              <a:t>Puede resultar excesivo para un PFC.</a:t>
            </a:r>
          </a:p>
          <a:p>
            <a:pPr algn="just">
              <a:lnSpc>
                <a:spcPts val="5556"/>
              </a:lnSpc>
            </a:pPr>
            <a:r>
              <a:rPr lang="en-US" sz="2572" b="1">
                <a:solidFill>
                  <a:srgbClr val="004AAD"/>
                </a:solidFill>
                <a:latin typeface="Tomorrow Bold"/>
                <a:ea typeface="Tomorrow Bold"/>
                <a:cs typeface="Tomorrow Bold"/>
                <a:sym typeface="Tomorrow Bold"/>
              </a:rPr>
              <a:t>Conclusión</a:t>
            </a:r>
          </a:p>
          <a:p>
            <a:pPr marL="555409" lvl="1" indent="-277705" algn="just">
              <a:lnSpc>
                <a:spcPts val="5556"/>
              </a:lnSpc>
              <a:buFont typeface="Arial"/>
              <a:buChar char="•"/>
            </a:pPr>
            <a:r>
              <a:rPr lang="en-US" sz="2572">
                <a:solidFill>
                  <a:srgbClr val="004AAD"/>
                </a:solidFill>
                <a:latin typeface="Tomorrow"/>
                <a:ea typeface="Tomorrow"/>
                <a:cs typeface="Tomorrow"/>
                <a:sym typeface="Tomorrow"/>
              </a:rPr>
              <a:t>Conceptualmente aplicable.</a:t>
            </a:r>
          </a:p>
          <a:p>
            <a:pPr marL="555409" lvl="1" indent="-277705" algn="just">
              <a:lnSpc>
                <a:spcPts val="5556"/>
              </a:lnSpc>
              <a:buFont typeface="Arial"/>
              <a:buChar char="•"/>
            </a:pPr>
            <a:r>
              <a:rPr lang="en-US" sz="2572">
                <a:solidFill>
                  <a:srgbClr val="004AAD"/>
                </a:solidFill>
                <a:latin typeface="Tomorrow"/>
                <a:ea typeface="Tomorrow"/>
                <a:cs typeface="Tomorrow"/>
                <a:sym typeface="Tomorrow"/>
              </a:rPr>
              <a:t>Prácticamente poco viable para el PFC.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E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28700" y="1028700"/>
            <a:ext cx="16230600" cy="8229600"/>
            <a:chOff x="0" y="0"/>
            <a:chExt cx="4274726" cy="2167467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274726" cy="2167467"/>
            </a:xfrm>
            <a:custGeom>
              <a:avLst/>
              <a:gdLst/>
              <a:ahLst/>
              <a:cxnLst/>
              <a:rect l="l" t="t" r="r" b="b"/>
              <a:pathLst>
                <a:path w="4274726" h="2167467">
                  <a:moveTo>
                    <a:pt x="0" y="0"/>
                  </a:moveTo>
                  <a:lnTo>
                    <a:pt x="4274726" y="0"/>
                  </a:lnTo>
                  <a:lnTo>
                    <a:pt x="4274726" y="2167467"/>
                  </a:lnTo>
                  <a:lnTo>
                    <a:pt x="0" y="2167467"/>
                  </a:lnTo>
                  <a:close/>
                </a:path>
              </a:pathLst>
            </a:custGeom>
            <a:ln w="76200" cap="sq">
              <a:solidFill>
                <a:srgbClr val="01BDBB"/>
              </a:solidFill>
              <a:prstDash val="solid"/>
              <a:miter/>
            </a:ln>
          </p:spPr>
          <p:txBody>
            <a:bodyPr/>
            <a:lstStyle/>
            <a:p>
              <a:endParaRPr lang="es-EC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57150"/>
              <a:ext cx="4274726" cy="222461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13361462" y="1028700"/>
            <a:ext cx="3897838" cy="4114800"/>
          </a:xfrm>
          <a:custGeom>
            <a:avLst/>
            <a:gdLst/>
            <a:ahLst/>
            <a:cxnLst/>
            <a:rect l="l" t="t" r="r" b="b"/>
            <a:pathLst>
              <a:path w="3897838" h="4114800">
                <a:moveTo>
                  <a:pt x="0" y="0"/>
                </a:moveTo>
                <a:lnTo>
                  <a:pt x="3897838" y="0"/>
                </a:lnTo>
                <a:lnTo>
                  <a:pt x="389783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EC"/>
          </a:p>
        </p:txBody>
      </p:sp>
      <p:sp>
        <p:nvSpPr>
          <p:cNvPr id="6" name="Freeform 6"/>
          <p:cNvSpPr/>
          <p:nvPr/>
        </p:nvSpPr>
        <p:spPr>
          <a:xfrm flipH="1" flipV="1">
            <a:off x="1028700" y="5143500"/>
            <a:ext cx="3897838" cy="4114800"/>
          </a:xfrm>
          <a:custGeom>
            <a:avLst/>
            <a:gdLst/>
            <a:ahLst/>
            <a:cxnLst/>
            <a:rect l="l" t="t" r="r" b="b"/>
            <a:pathLst>
              <a:path w="3897838" h="4114800">
                <a:moveTo>
                  <a:pt x="3897838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3897838" y="0"/>
                </a:lnTo>
                <a:lnTo>
                  <a:pt x="3897838" y="411480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EC"/>
          </a:p>
        </p:txBody>
      </p:sp>
      <p:grpSp>
        <p:nvGrpSpPr>
          <p:cNvPr id="7" name="Group 7"/>
          <p:cNvGrpSpPr/>
          <p:nvPr/>
        </p:nvGrpSpPr>
        <p:grpSpPr>
          <a:xfrm>
            <a:off x="385853" y="460665"/>
            <a:ext cx="17516294" cy="9365669"/>
            <a:chOff x="0" y="0"/>
            <a:chExt cx="4613345" cy="2466678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4613345" cy="2466678"/>
            </a:xfrm>
            <a:custGeom>
              <a:avLst/>
              <a:gdLst/>
              <a:ahLst/>
              <a:cxnLst/>
              <a:rect l="l" t="t" r="r" b="b"/>
              <a:pathLst>
                <a:path w="4613345" h="2466678">
                  <a:moveTo>
                    <a:pt x="0" y="0"/>
                  </a:moveTo>
                  <a:lnTo>
                    <a:pt x="4613345" y="0"/>
                  </a:lnTo>
                  <a:lnTo>
                    <a:pt x="4613345" y="2466678"/>
                  </a:lnTo>
                  <a:lnTo>
                    <a:pt x="0" y="2466678"/>
                  </a:lnTo>
                  <a:close/>
                </a:path>
              </a:pathLst>
            </a:custGeom>
            <a:ln w="66675" cap="sq">
              <a:solidFill>
                <a:srgbClr val="FF6201"/>
              </a:solidFill>
              <a:prstDash val="solid"/>
              <a:miter/>
            </a:ln>
          </p:spPr>
          <p:txBody>
            <a:bodyPr/>
            <a:lstStyle/>
            <a:p>
              <a:endParaRPr lang="es-EC"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0" y="-57150"/>
              <a:ext cx="4613345" cy="252382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/>
            </a:p>
          </p:txBody>
        </p:sp>
      </p:grpSp>
      <p:sp>
        <p:nvSpPr>
          <p:cNvPr id="10" name="TextBox 10"/>
          <p:cNvSpPr txBox="1"/>
          <p:nvPr/>
        </p:nvSpPr>
        <p:spPr>
          <a:xfrm>
            <a:off x="2861583" y="4045992"/>
            <a:ext cx="12564833" cy="27474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0166"/>
              </a:lnSpc>
            </a:pPr>
            <a:r>
              <a:rPr lang="en-US" sz="16000" b="1" spc="-1409">
                <a:solidFill>
                  <a:srgbClr val="FF6201"/>
                </a:solidFill>
                <a:latin typeface="Tomorrow Bold"/>
                <a:ea typeface="Tomorrow Bold"/>
                <a:cs typeface="Tomorrow Bold"/>
                <a:sym typeface="Tomorrow Bold"/>
              </a:rPr>
              <a:t>GRACIAS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575</Words>
  <Application>Microsoft Office PowerPoint</Application>
  <PresentationFormat>Personalizado</PresentationFormat>
  <Paragraphs>80</Paragraphs>
  <Slides>14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14</vt:i4>
      </vt:variant>
    </vt:vector>
  </HeadingPairs>
  <TitlesOfParts>
    <vt:vector size="20" baseType="lpstr">
      <vt:lpstr>Arial</vt:lpstr>
      <vt:lpstr>Inter Bold</vt:lpstr>
      <vt:lpstr>Tomorrow Bold</vt:lpstr>
      <vt:lpstr>Calibri</vt:lpstr>
      <vt:lpstr>Tomorrow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OpenReq - Grupo H</dc:title>
  <cp:lastModifiedBy>Vodruk 9029</cp:lastModifiedBy>
  <cp:revision>3</cp:revision>
  <dcterms:created xsi:type="dcterms:W3CDTF">2006-08-16T00:00:00Z</dcterms:created>
  <dcterms:modified xsi:type="dcterms:W3CDTF">2026-06-13T19:12:33Z</dcterms:modified>
  <dc:identifier>DAHL6U2Ha54</dc:identifier>
</cp:coreProperties>
</file>